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A2A28"/>
        </a:solidFill>
        <a:effectLst/>
      </p:bgPr>
    </p:bg>
    <p:spTree>
      <p:nvGrpSpPr>
        <p:cNvPr id="1" name=""/>
        <p:cNvGrpSpPr/>
        <p:nvPr/>
      </p:nvGrpSpPr>
      <p:grpSpPr/>
      <p:sp>
        <p:nvSpPr>
          <p:cNvPr id="2" name="Rectangle 1"/>
          <p:cNvSpPr/>
          <p:nvPr/>
        </p:nvSpPr>
        <p:spPr>
          <a:xfrm>
            <a:off x="0" y="0"/>
            <a:ext cx="128016" cy="5143500"/>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822960"/>
            <a:ext cx="8412480" cy="274320"/>
          </a:xfrm>
          <a:prstGeom prst="rect">
            <a:avLst/>
          </a:prstGeom>
          <a:noFill/>
        </p:spPr>
        <p:txBody>
          <a:bodyPr wrap="square">
            <a:spAutoFit/>
          </a:bodyPr>
          <a:lstStyle/>
          <a:p>
            <a:pPr algn="l"/>
            <a:r>
              <a:rPr sz="800" b="0" i="0">
                <a:solidFill>
                  <a:srgbClr val="ABA59F"/>
                </a:solidFill>
                <a:latin typeface="Calibri"/>
              </a:rPr>
              <a:t>GWU CAPSTONE  ·  DATA SCIENCE  ·  APRIL 2026</a:t>
            </a:r>
          </a:p>
        </p:txBody>
      </p:sp>
      <p:sp>
        <p:nvSpPr>
          <p:cNvPr id="4" name="TextBox 3"/>
          <p:cNvSpPr txBox="1"/>
          <p:nvPr/>
        </p:nvSpPr>
        <p:spPr>
          <a:xfrm>
            <a:off x="365760" y="1234440"/>
            <a:ext cx="8229600" cy="777240"/>
          </a:xfrm>
          <a:prstGeom prst="rect">
            <a:avLst/>
          </a:prstGeom>
          <a:noFill/>
        </p:spPr>
        <p:txBody>
          <a:bodyPr wrap="square">
            <a:spAutoFit/>
          </a:bodyPr>
          <a:lstStyle/>
          <a:p>
            <a:pPr algn="l"/>
            <a:r>
              <a:rPr sz="4600" b="0" i="0">
                <a:solidFill>
                  <a:srgbClr val="F7F5F2"/>
                </a:solidFill>
                <a:latin typeface="Georgia"/>
              </a:rPr>
              <a:t>Prostate Cancer</a:t>
            </a:r>
          </a:p>
        </p:txBody>
      </p:sp>
      <p:sp>
        <p:nvSpPr>
          <p:cNvPr id="5" name="TextBox 4"/>
          <p:cNvSpPr txBox="1"/>
          <p:nvPr/>
        </p:nvSpPr>
        <p:spPr>
          <a:xfrm>
            <a:off x="365760" y="1965960"/>
            <a:ext cx="8229600" cy="777240"/>
          </a:xfrm>
          <a:prstGeom prst="rect">
            <a:avLst/>
          </a:prstGeom>
          <a:noFill/>
        </p:spPr>
        <p:txBody>
          <a:bodyPr wrap="square">
            <a:spAutoFit/>
          </a:bodyPr>
          <a:lstStyle/>
          <a:p>
            <a:pPr algn="l"/>
            <a:r>
              <a:rPr sz="4600" b="0" i="0">
                <a:solidFill>
                  <a:srgbClr val="8A9A8B"/>
                </a:solidFill>
                <a:latin typeface="Georgia"/>
              </a:rPr>
              <a:t>Epidemiology Dashboard</a:t>
            </a:r>
          </a:p>
        </p:txBody>
      </p:sp>
      <p:sp>
        <p:nvSpPr>
          <p:cNvPr id="6" name="TextBox 5"/>
          <p:cNvSpPr txBox="1"/>
          <p:nvPr/>
        </p:nvSpPr>
        <p:spPr>
          <a:xfrm>
            <a:off x="365760" y="2880360"/>
            <a:ext cx="7498079" cy="411480"/>
          </a:xfrm>
          <a:prstGeom prst="rect">
            <a:avLst/>
          </a:prstGeom>
          <a:noFill/>
        </p:spPr>
        <p:txBody>
          <a:bodyPr wrap="square">
            <a:spAutoFit/>
          </a:bodyPr>
          <a:lstStyle/>
          <a:p>
            <a:pPr algn="l"/>
            <a:r>
              <a:rPr sz="1400" b="0" i="1">
                <a:solidFill>
                  <a:srgbClr val="ABA59F"/>
                </a:solidFill>
                <a:latin typeface="Calibri"/>
              </a:rPr>
              <a:t>An Interactive Statistical Platform for Population-Level Analysis</a:t>
            </a:r>
          </a:p>
        </p:txBody>
      </p:sp>
      <p:sp>
        <p:nvSpPr>
          <p:cNvPr id="7" name="Rectangle 6"/>
          <p:cNvSpPr/>
          <p:nvPr/>
        </p:nvSpPr>
        <p:spPr>
          <a:xfrm>
            <a:off x="365760" y="3401568"/>
            <a:ext cx="2011680" cy="27432"/>
          </a:xfrm>
          <a:prstGeom prst="rect">
            <a:avLst/>
          </a:prstGeom>
          <a:solidFill>
            <a:srgbClr val="C17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3566160"/>
            <a:ext cx="7772400" cy="320040"/>
          </a:xfrm>
          <a:prstGeom prst="rect">
            <a:avLst/>
          </a:prstGeom>
          <a:noFill/>
        </p:spPr>
        <p:txBody>
          <a:bodyPr wrap="square">
            <a:spAutoFit/>
          </a:bodyPr>
          <a:lstStyle/>
          <a:p>
            <a:pPr algn="l"/>
            <a:r>
              <a:rPr sz="1100" b="0" i="0">
                <a:solidFill>
                  <a:srgbClr val="ABA59F"/>
                </a:solidFill>
                <a:latin typeface="Calibri"/>
              </a:rPr>
              <a:t>Ava McClinton  ·  SEER 22, NCI  ·  1999–2022  ·  51 States + DC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Rectangle 1"/>
          <p:cNvSpPr/>
          <p:nvPr/>
        </p:nvSpPr>
        <p:spPr>
          <a:xfrm>
            <a:off x="0" y="0"/>
            <a:ext cx="128016" cy="5143500"/>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56032"/>
            <a:ext cx="8412480" cy="566928"/>
          </a:xfrm>
          <a:prstGeom prst="rect">
            <a:avLst/>
          </a:prstGeom>
          <a:noFill/>
        </p:spPr>
        <p:txBody>
          <a:bodyPr wrap="square">
            <a:spAutoFit/>
          </a:bodyPr>
          <a:lstStyle/>
          <a:p>
            <a:pPr algn="l"/>
            <a:r>
              <a:rPr sz="3000" b="0" i="0">
                <a:solidFill>
                  <a:srgbClr val="2C2C2C"/>
                </a:solidFill>
                <a:latin typeface="Georgia"/>
              </a:rPr>
              <a:t>Why This Project Matters</a:t>
            </a:r>
          </a:p>
        </p:txBody>
      </p:sp>
      <p:sp>
        <p:nvSpPr>
          <p:cNvPr id="4" name="Rectangle 3"/>
          <p:cNvSpPr/>
          <p:nvPr/>
        </p:nvSpPr>
        <p:spPr>
          <a:xfrm>
            <a:off x="365760" y="896112"/>
            <a:ext cx="8412480" cy="27432"/>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051560"/>
            <a:ext cx="2606040" cy="1417320"/>
          </a:xfrm>
          <a:prstGeom prst="rect">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15568"/>
            <a:ext cx="2606040" cy="731520"/>
          </a:xfrm>
          <a:prstGeom prst="rect">
            <a:avLst/>
          </a:prstGeom>
          <a:noFill/>
        </p:spPr>
        <p:txBody>
          <a:bodyPr wrap="square">
            <a:spAutoFit/>
          </a:bodyPr>
          <a:lstStyle/>
          <a:p>
            <a:pPr algn="ctr"/>
            <a:r>
              <a:rPr sz="3800" b="0" i="0">
                <a:solidFill>
                  <a:srgbClr val="8A9A8B"/>
                </a:solidFill>
                <a:latin typeface="Georgia"/>
              </a:rPr>
              <a:t>268K</a:t>
            </a:r>
          </a:p>
        </p:txBody>
      </p:sp>
      <p:sp>
        <p:nvSpPr>
          <p:cNvPr id="7" name="TextBox 6"/>
          <p:cNvSpPr txBox="1"/>
          <p:nvPr/>
        </p:nvSpPr>
        <p:spPr>
          <a:xfrm>
            <a:off x="365760" y="1874519"/>
            <a:ext cx="2606040" cy="548640"/>
          </a:xfrm>
          <a:prstGeom prst="rect">
            <a:avLst/>
          </a:prstGeom>
          <a:noFill/>
        </p:spPr>
        <p:txBody>
          <a:bodyPr wrap="square">
            <a:spAutoFit/>
          </a:bodyPr>
          <a:lstStyle/>
          <a:p>
            <a:pPr algn="ctr"/>
            <a:r>
              <a:rPr sz="1100" b="0" i="0">
                <a:solidFill>
                  <a:srgbClr val="F7F5F2"/>
                </a:solidFill>
                <a:latin typeface="Calibri"/>
              </a:rPr>
              <a:t>new diagnoses
per year in the U.S.</a:t>
            </a:r>
          </a:p>
        </p:txBody>
      </p:sp>
      <p:sp>
        <p:nvSpPr>
          <p:cNvPr id="8" name="Rectangle 7"/>
          <p:cNvSpPr/>
          <p:nvPr/>
        </p:nvSpPr>
        <p:spPr>
          <a:xfrm>
            <a:off x="3200400" y="1051560"/>
            <a:ext cx="2606040" cy="1417320"/>
          </a:xfrm>
          <a:prstGeom prst="rect">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0" y="1115568"/>
            <a:ext cx="2606040" cy="731520"/>
          </a:xfrm>
          <a:prstGeom prst="rect">
            <a:avLst/>
          </a:prstGeom>
          <a:noFill/>
        </p:spPr>
        <p:txBody>
          <a:bodyPr wrap="square">
            <a:spAutoFit/>
          </a:bodyPr>
          <a:lstStyle/>
          <a:p>
            <a:pPr algn="ctr"/>
            <a:r>
              <a:rPr sz="3800" b="0" i="0">
                <a:solidFill>
                  <a:srgbClr val="8A9A8B"/>
                </a:solidFill>
                <a:latin typeface="Georgia"/>
              </a:rPr>
              <a:t>#2</a:t>
            </a:r>
          </a:p>
        </p:txBody>
      </p:sp>
      <p:sp>
        <p:nvSpPr>
          <p:cNvPr id="10" name="TextBox 9"/>
          <p:cNvSpPr txBox="1"/>
          <p:nvPr/>
        </p:nvSpPr>
        <p:spPr>
          <a:xfrm>
            <a:off x="3200400" y="1874519"/>
            <a:ext cx="2606040" cy="548640"/>
          </a:xfrm>
          <a:prstGeom prst="rect">
            <a:avLst/>
          </a:prstGeom>
          <a:noFill/>
        </p:spPr>
        <p:txBody>
          <a:bodyPr wrap="square">
            <a:spAutoFit/>
          </a:bodyPr>
          <a:lstStyle/>
          <a:p>
            <a:pPr algn="ctr"/>
            <a:r>
              <a:rPr sz="1100" b="0" i="0">
                <a:solidFill>
                  <a:srgbClr val="F7F5F2"/>
                </a:solidFill>
                <a:latin typeface="Calibri"/>
              </a:rPr>
              <a:t>leading cancer
killer in U.S. men</a:t>
            </a:r>
          </a:p>
        </p:txBody>
      </p:sp>
      <p:sp>
        <p:nvSpPr>
          <p:cNvPr id="11" name="Rectangle 10"/>
          <p:cNvSpPr/>
          <p:nvPr/>
        </p:nvSpPr>
        <p:spPr>
          <a:xfrm>
            <a:off x="6035040" y="1051560"/>
            <a:ext cx="2606040" cy="1417320"/>
          </a:xfrm>
          <a:prstGeom prst="rect">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1115568"/>
            <a:ext cx="2606040" cy="731520"/>
          </a:xfrm>
          <a:prstGeom prst="rect">
            <a:avLst/>
          </a:prstGeom>
          <a:noFill/>
        </p:spPr>
        <p:txBody>
          <a:bodyPr wrap="square">
            <a:spAutoFit/>
          </a:bodyPr>
          <a:lstStyle/>
          <a:p>
            <a:pPr algn="ctr"/>
            <a:r>
              <a:rPr sz="3800" b="0" i="0">
                <a:solidFill>
                  <a:srgbClr val="8A9A8B"/>
                </a:solidFill>
                <a:latin typeface="Georgia"/>
              </a:rPr>
              <a:t>1 in 8</a:t>
            </a:r>
          </a:p>
        </p:txBody>
      </p:sp>
      <p:sp>
        <p:nvSpPr>
          <p:cNvPr id="13" name="TextBox 12"/>
          <p:cNvSpPr txBox="1"/>
          <p:nvPr/>
        </p:nvSpPr>
        <p:spPr>
          <a:xfrm>
            <a:off x="6035040" y="1874519"/>
            <a:ext cx="2606040" cy="548640"/>
          </a:xfrm>
          <a:prstGeom prst="rect">
            <a:avLst/>
          </a:prstGeom>
          <a:noFill/>
        </p:spPr>
        <p:txBody>
          <a:bodyPr wrap="square">
            <a:spAutoFit/>
          </a:bodyPr>
          <a:lstStyle/>
          <a:p>
            <a:pPr algn="ctr"/>
            <a:r>
              <a:rPr sz="1100" b="0" i="0">
                <a:solidFill>
                  <a:srgbClr val="F7F5F2"/>
                </a:solidFill>
                <a:latin typeface="Calibri"/>
              </a:rPr>
              <a:t>men will be
diagnosed in their lifetime</a:t>
            </a:r>
          </a:p>
        </p:txBody>
      </p:sp>
      <p:sp>
        <p:nvSpPr>
          <p:cNvPr id="14" name="TextBox 13"/>
          <p:cNvSpPr txBox="1"/>
          <p:nvPr/>
        </p:nvSpPr>
        <p:spPr>
          <a:xfrm>
            <a:off x="365760" y="2651760"/>
            <a:ext cx="8412480" cy="594360"/>
          </a:xfrm>
          <a:prstGeom prst="rect">
            <a:avLst/>
          </a:prstGeom>
          <a:noFill/>
        </p:spPr>
        <p:txBody>
          <a:bodyPr wrap="square">
            <a:spAutoFit/>
          </a:bodyPr>
          <a:lstStyle/>
          <a:p>
            <a:pPr algn="l"/>
            <a:r>
              <a:rPr sz="1250" b="0" i="0">
                <a:solidFill>
                  <a:srgbClr val="2C2C2C"/>
                </a:solidFill>
                <a:latin typeface="Calibri"/>
              </a:rPr>
              <a:t>Prostate cancer is the most common non-skin cancer in American men. Screening practices have shifted dramatically over the last decade, creating measurable changes in stage distribution at diagnosis — and yet racial disparities remain large and persistent.</a:t>
            </a:r>
          </a:p>
        </p:txBody>
      </p:sp>
      <p:sp>
        <p:nvSpPr>
          <p:cNvPr id="15" name="TextBox 14"/>
          <p:cNvSpPr txBox="1"/>
          <p:nvPr/>
        </p:nvSpPr>
        <p:spPr>
          <a:xfrm>
            <a:off x="365760" y="3337560"/>
            <a:ext cx="8412480" cy="502920"/>
          </a:xfrm>
          <a:prstGeom prst="rect">
            <a:avLst/>
          </a:prstGeom>
          <a:noFill/>
        </p:spPr>
        <p:txBody>
          <a:bodyPr wrap="square">
            <a:spAutoFit/>
          </a:bodyPr>
          <a:lstStyle/>
          <a:p>
            <a:pPr algn="l"/>
            <a:r>
              <a:rPr sz="1200" b="0" i="1">
                <a:solidFill>
                  <a:srgbClr val="ABA59F"/>
                </a:solidFill>
                <a:latin typeface="Calibri"/>
              </a:rPr>
              <a:t>This dashboard provides a comprehensive, interactive platform to explore 23 years of SEER data — built entirely as a self-contained HTML/JavaScript application with no server.</a:t>
            </a:r>
          </a:p>
        </p:txBody>
      </p:sp>
      <p:sp>
        <p:nvSpPr>
          <p:cNvPr id="16" name="Rectangle 15"/>
          <p:cNvSpPr/>
          <p:nvPr/>
        </p:nvSpPr>
        <p:spPr>
          <a:xfrm>
            <a:off x="365760" y="3931920"/>
            <a:ext cx="8412480" cy="27432"/>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4069080"/>
            <a:ext cx="2606040" cy="365760"/>
          </a:xfrm>
          <a:prstGeom prst="rect">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4096512"/>
            <a:ext cx="2606040" cy="310896"/>
          </a:xfrm>
          <a:prstGeom prst="rect">
            <a:avLst/>
          </a:prstGeom>
          <a:noFill/>
        </p:spPr>
        <p:txBody>
          <a:bodyPr wrap="square">
            <a:spAutoFit/>
          </a:bodyPr>
          <a:lstStyle/>
          <a:p>
            <a:pPr algn="ctr"/>
            <a:r>
              <a:rPr sz="1050" b="0" i="0">
                <a:solidFill>
                  <a:srgbClr val="8A9A8B"/>
                </a:solidFill>
                <a:latin typeface="Calibri"/>
              </a:rPr>
              <a:t>12 Interactive Charts</a:t>
            </a:r>
          </a:p>
        </p:txBody>
      </p:sp>
      <p:sp>
        <p:nvSpPr>
          <p:cNvPr id="19" name="Rectangle 18"/>
          <p:cNvSpPr/>
          <p:nvPr/>
        </p:nvSpPr>
        <p:spPr>
          <a:xfrm>
            <a:off x="3200400" y="4069080"/>
            <a:ext cx="2606040" cy="365760"/>
          </a:xfrm>
          <a:prstGeom prst="rect">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0" y="4096512"/>
            <a:ext cx="2606040" cy="310896"/>
          </a:xfrm>
          <a:prstGeom prst="rect">
            <a:avLst/>
          </a:prstGeom>
          <a:noFill/>
        </p:spPr>
        <p:txBody>
          <a:bodyPr wrap="square">
            <a:spAutoFit/>
          </a:bodyPr>
          <a:lstStyle/>
          <a:p>
            <a:pPr algn="ctr"/>
            <a:r>
              <a:rPr sz="1050" b="0" i="0">
                <a:solidFill>
                  <a:srgbClr val="8A9A8B"/>
                </a:solidFill>
                <a:latin typeface="Calibri"/>
              </a:rPr>
              <a:t>51 States · 23 Years</a:t>
            </a:r>
          </a:p>
        </p:txBody>
      </p:sp>
      <p:sp>
        <p:nvSpPr>
          <p:cNvPr id="21" name="Rectangle 20"/>
          <p:cNvSpPr/>
          <p:nvPr/>
        </p:nvSpPr>
        <p:spPr>
          <a:xfrm>
            <a:off x="6035040" y="4069080"/>
            <a:ext cx="2606040" cy="365760"/>
          </a:xfrm>
          <a:prstGeom prst="rect">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4096512"/>
            <a:ext cx="2606040" cy="310896"/>
          </a:xfrm>
          <a:prstGeom prst="rect">
            <a:avLst/>
          </a:prstGeom>
          <a:noFill/>
        </p:spPr>
        <p:txBody>
          <a:bodyPr wrap="square">
            <a:spAutoFit/>
          </a:bodyPr>
          <a:lstStyle/>
          <a:p>
            <a:pPr algn="ctr"/>
            <a:r>
              <a:rPr sz="1050" b="0" i="0">
                <a:solidFill>
                  <a:srgbClr val="8A9A8B"/>
                </a:solidFill>
                <a:latin typeface="Calibri"/>
              </a:rPr>
              <a:t>Race · Stage · Survival · Geography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Rectangle 1"/>
          <p:cNvSpPr/>
          <p:nvPr/>
        </p:nvSpPr>
        <p:spPr>
          <a:xfrm>
            <a:off x="0" y="0"/>
            <a:ext cx="128016" cy="5143500"/>
          </a:xfrm>
          <a:prstGeom prst="rect">
            <a:avLst/>
          </a:prstGeom>
          <a:solidFill>
            <a:srgbClr val="C17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56032"/>
            <a:ext cx="8412480" cy="566928"/>
          </a:xfrm>
          <a:prstGeom prst="rect">
            <a:avLst/>
          </a:prstGeom>
          <a:noFill/>
        </p:spPr>
        <p:txBody>
          <a:bodyPr wrap="square">
            <a:spAutoFit/>
          </a:bodyPr>
          <a:lstStyle/>
          <a:p>
            <a:pPr algn="l"/>
            <a:r>
              <a:rPr sz="3000" b="0" i="0">
                <a:solidFill>
                  <a:srgbClr val="2C2C2C"/>
                </a:solidFill>
                <a:latin typeface="Georgia"/>
              </a:rPr>
              <a:t>Data Foundation</a:t>
            </a:r>
          </a:p>
        </p:txBody>
      </p:sp>
      <p:sp>
        <p:nvSpPr>
          <p:cNvPr id="4" name="Rectangle 3"/>
          <p:cNvSpPr/>
          <p:nvPr/>
        </p:nvSpPr>
        <p:spPr>
          <a:xfrm>
            <a:off x="365760" y="896112"/>
            <a:ext cx="8412480" cy="27432"/>
          </a:xfrm>
          <a:prstGeom prst="rect">
            <a:avLst/>
          </a:prstGeom>
          <a:solidFill>
            <a:srgbClr val="C17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05840"/>
            <a:ext cx="4114800" cy="365760"/>
          </a:xfrm>
          <a:prstGeom prst="rect">
            <a:avLst/>
          </a:prstGeom>
          <a:noFill/>
        </p:spPr>
        <p:txBody>
          <a:bodyPr wrap="square">
            <a:spAutoFit/>
          </a:bodyPr>
          <a:lstStyle/>
          <a:p>
            <a:pPr algn="l"/>
            <a:r>
              <a:rPr sz="1500" b="0" i="0">
                <a:solidFill>
                  <a:srgbClr val="2C2C2C"/>
                </a:solidFill>
                <a:latin typeface="Georgia"/>
              </a:rPr>
              <a:t>Primary Source: SEER 22</a:t>
            </a:r>
          </a:p>
        </p:txBody>
      </p:sp>
      <p:sp>
        <p:nvSpPr>
          <p:cNvPr id="6" name="TextBox 5"/>
          <p:cNvSpPr txBox="1"/>
          <p:nvPr/>
        </p:nvSpPr>
        <p:spPr>
          <a:xfrm>
            <a:off x="365760" y="1417320"/>
            <a:ext cx="4114800" cy="1005840"/>
          </a:xfrm>
          <a:prstGeom prst="rect">
            <a:avLst/>
          </a:prstGeom>
          <a:noFill/>
        </p:spPr>
        <p:txBody>
          <a:bodyPr wrap="square">
            <a:spAutoFit/>
          </a:bodyPr>
          <a:lstStyle/>
          <a:p>
            <a:pPr algn="l"/>
            <a:r>
              <a:rPr sz="1150" b="0" i="0">
                <a:solidFill>
                  <a:srgbClr val="2C2C2C"/>
                </a:solidFill>
                <a:latin typeface="Calibri"/>
              </a:rPr>
              <a:t>Surveillance, Epidemiology &amp; End Results Program
National Cancer Institute (NCI)
Covers approximately 35% of the U.S. population
Gold standard for U.S. cancer epidemiology</a:t>
            </a:r>
          </a:p>
        </p:txBody>
      </p:sp>
      <p:sp>
        <p:nvSpPr>
          <p:cNvPr id="7" name="Rectangle 6"/>
          <p:cNvSpPr/>
          <p:nvPr/>
        </p:nvSpPr>
        <p:spPr>
          <a:xfrm>
            <a:off x="365760" y="2514600"/>
            <a:ext cx="54864" cy="274320"/>
          </a:xfrm>
          <a:prstGeom prst="rect">
            <a:avLst/>
          </a:prstGeom>
          <a:solidFill>
            <a:srgbClr val="C17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514600"/>
            <a:ext cx="3931920" cy="411480"/>
          </a:xfrm>
          <a:prstGeom prst="rect">
            <a:avLst/>
          </a:prstGeom>
          <a:noFill/>
        </p:spPr>
        <p:txBody>
          <a:bodyPr wrap="square">
            <a:spAutoFit/>
          </a:bodyPr>
          <a:lstStyle/>
          <a:p>
            <a:pPr algn="l"/>
            <a:r>
              <a:rPr sz="1100" b="0" i="0">
                <a:solidFill>
                  <a:srgbClr val="2C2C2C"/>
                </a:solidFill>
                <a:latin typeface="Calibri"/>
              </a:rPr>
              <a:t>Years covered:  1999–2022 (23 years of data)</a:t>
            </a:r>
          </a:p>
        </p:txBody>
      </p:sp>
      <p:sp>
        <p:nvSpPr>
          <p:cNvPr id="9" name="Rectangle 8"/>
          <p:cNvSpPr/>
          <p:nvPr/>
        </p:nvSpPr>
        <p:spPr>
          <a:xfrm>
            <a:off x="365760" y="2990088"/>
            <a:ext cx="54864" cy="274320"/>
          </a:xfrm>
          <a:prstGeom prst="rect">
            <a:avLst/>
          </a:prstGeom>
          <a:solidFill>
            <a:srgbClr val="C17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990088"/>
            <a:ext cx="3931920" cy="411480"/>
          </a:xfrm>
          <a:prstGeom prst="rect">
            <a:avLst/>
          </a:prstGeom>
          <a:noFill/>
        </p:spPr>
        <p:txBody>
          <a:bodyPr wrap="square">
            <a:spAutoFit/>
          </a:bodyPr>
          <a:lstStyle/>
          <a:p>
            <a:pPr algn="l"/>
            <a:r>
              <a:rPr sz="1100" b="0" i="0">
                <a:solidFill>
                  <a:srgbClr val="2C2C2C"/>
                </a:solidFill>
                <a:latin typeface="Calibri"/>
              </a:rPr>
              <a:t>Geography:  51 states + Washington D.C.</a:t>
            </a:r>
          </a:p>
        </p:txBody>
      </p:sp>
      <p:sp>
        <p:nvSpPr>
          <p:cNvPr id="11" name="Rectangle 10"/>
          <p:cNvSpPr/>
          <p:nvPr/>
        </p:nvSpPr>
        <p:spPr>
          <a:xfrm>
            <a:off x="365760" y="3465576"/>
            <a:ext cx="54864" cy="274320"/>
          </a:xfrm>
          <a:prstGeom prst="rect">
            <a:avLst/>
          </a:prstGeom>
          <a:solidFill>
            <a:srgbClr val="C17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3465576"/>
            <a:ext cx="3931920" cy="411480"/>
          </a:xfrm>
          <a:prstGeom prst="rect">
            <a:avLst/>
          </a:prstGeom>
          <a:noFill/>
        </p:spPr>
        <p:txBody>
          <a:bodyPr wrap="square">
            <a:spAutoFit/>
          </a:bodyPr>
          <a:lstStyle/>
          <a:p>
            <a:pPr algn="l"/>
            <a:r>
              <a:rPr sz="1100" b="0" i="0">
                <a:solidFill>
                  <a:srgbClr val="2C2C2C"/>
                </a:solidFill>
                <a:latin typeface="Calibri"/>
              </a:rPr>
              <a:t>Rates:  Age-adjusted to 2000 U.S. standard population</a:t>
            </a:r>
          </a:p>
        </p:txBody>
      </p:sp>
      <p:sp>
        <p:nvSpPr>
          <p:cNvPr id="13" name="Rectangle 12"/>
          <p:cNvSpPr/>
          <p:nvPr/>
        </p:nvSpPr>
        <p:spPr>
          <a:xfrm>
            <a:off x="365760" y="3941064"/>
            <a:ext cx="54864" cy="274320"/>
          </a:xfrm>
          <a:prstGeom prst="rect">
            <a:avLst/>
          </a:prstGeom>
          <a:solidFill>
            <a:srgbClr val="C17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941064"/>
            <a:ext cx="3931920" cy="411480"/>
          </a:xfrm>
          <a:prstGeom prst="rect">
            <a:avLst/>
          </a:prstGeom>
          <a:noFill/>
        </p:spPr>
        <p:txBody>
          <a:bodyPr wrap="square">
            <a:spAutoFit/>
          </a:bodyPr>
          <a:lstStyle/>
          <a:p>
            <a:pPr algn="l"/>
            <a:r>
              <a:rPr sz="1100" b="0" i="0">
                <a:solidFill>
                  <a:srgbClr val="2C2C2C"/>
                </a:solidFill>
                <a:latin typeface="Calibri"/>
              </a:rPr>
              <a:t>Metrics:  Incidence, mortality, stage at diagnosis,
             5-year survival, race/ethnicity breakdowns</a:t>
            </a:r>
          </a:p>
        </p:txBody>
      </p:sp>
      <p:sp>
        <p:nvSpPr>
          <p:cNvPr id="15" name="Rectangle 14"/>
          <p:cNvSpPr/>
          <p:nvPr/>
        </p:nvSpPr>
        <p:spPr>
          <a:xfrm>
            <a:off x="365760" y="4416552"/>
            <a:ext cx="54864" cy="274320"/>
          </a:xfrm>
          <a:prstGeom prst="rect">
            <a:avLst/>
          </a:prstGeom>
          <a:solidFill>
            <a:srgbClr val="C17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416552"/>
            <a:ext cx="3931920" cy="411480"/>
          </a:xfrm>
          <a:prstGeom prst="rect">
            <a:avLst/>
          </a:prstGeom>
          <a:noFill/>
        </p:spPr>
        <p:txBody>
          <a:bodyPr wrap="square">
            <a:spAutoFit/>
          </a:bodyPr>
          <a:lstStyle/>
          <a:p>
            <a:pPr algn="l"/>
            <a:r>
              <a:rPr sz="1100" b="0" i="0">
                <a:solidFill>
                  <a:srgbClr val="2C2C2C"/>
                </a:solidFill>
                <a:latin typeface="Calibri"/>
              </a:rPr>
              <a:t>Quality:  High completeness, peer-reviewed methodology</a:t>
            </a:r>
          </a:p>
        </p:txBody>
      </p:sp>
      <p:sp>
        <p:nvSpPr>
          <p:cNvPr id="17" name="TextBox 16"/>
          <p:cNvSpPr txBox="1"/>
          <p:nvPr/>
        </p:nvSpPr>
        <p:spPr>
          <a:xfrm>
            <a:off x="4709160" y="1005840"/>
            <a:ext cx="4114800" cy="365760"/>
          </a:xfrm>
          <a:prstGeom prst="rect">
            <a:avLst/>
          </a:prstGeom>
          <a:noFill/>
        </p:spPr>
        <p:txBody>
          <a:bodyPr wrap="square">
            <a:spAutoFit/>
          </a:bodyPr>
          <a:lstStyle/>
          <a:p>
            <a:pPr algn="l"/>
            <a:r>
              <a:rPr sz="1500" b="0" i="0">
                <a:solidFill>
                  <a:srgbClr val="2C2C2C"/>
                </a:solidFill>
                <a:latin typeface="Georgia"/>
              </a:rPr>
              <a:t>What the Dashboard Contains</a:t>
            </a:r>
          </a:p>
        </p:txBody>
      </p:sp>
      <p:sp>
        <p:nvSpPr>
          <p:cNvPr id="18" name="Rectangle 17"/>
          <p:cNvSpPr/>
          <p:nvPr/>
        </p:nvSpPr>
        <p:spPr>
          <a:xfrm>
            <a:off x="4709160" y="1417320"/>
            <a:ext cx="1005840" cy="457200"/>
          </a:xfrm>
          <a:prstGeom prst="rect">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09160" y="1453896"/>
            <a:ext cx="1005840" cy="384048"/>
          </a:xfrm>
          <a:prstGeom prst="rect">
            <a:avLst/>
          </a:prstGeom>
          <a:noFill/>
        </p:spPr>
        <p:txBody>
          <a:bodyPr wrap="square">
            <a:spAutoFit/>
          </a:bodyPr>
          <a:lstStyle/>
          <a:p>
            <a:pPr algn="ctr"/>
            <a:r>
              <a:rPr sz="1050" b="0" i="0">
                <a:solidFill>
                  <a:srgbClr val="8A9A8B"/>
                </a:solidFill>
                <a:latin typeface="Georgia"/>
              </a:rPr>
              <a:t>Trends</a:t>
            </a:r>
          </a:p>
        </p:txBody>
      </p:sp>
      <p:sp>
        <p:nvSpPr>
          <p:cNvPr id="20" name="TextBox 19"/>
          <p:cNvSpPr txBox="1"/>
          <p:nvPr/>
        </p:nvSpPr>
        <p:spPr>
          <a:xfrm>
            <a:off x="5806440" y="1417320"/>
            <a:ext cx="2971800" cy="594360"/>
          </a:xfrm>
          <a:prstGeom prst="rect">
            <a:avLst/>
          </a:prstGeom>
          <a:noFill/>
        </p:spPr>
        <p:txBody>
          <a:bodyPr wrap="square">
            <a:spAutoFit/>
          </a:bodyPr>
          <a:lstStyle/>
          <a:p>
            <a:pPr algn="l"/>
            <a:r>
              <a:rPr sz="1000" b="0" i="0">
                <a:solidFill>
                  <a:srgbClr val="2C2C2C"/>
                </a:solidFill>
                <a:latin typeface="Calibri"/>
              </a:rPr>
              <a:t>Incidence &amp; mortality 2000–2022, stage-filtered, with linear regression projections to 2030</a:t>
            </a:r>
          </a:p>
        </p:txBody>
      </p:sp>
      <p:sp>
        <p:nvSpPr>
          <p:cNvPr id="21" name="Rectangle 20"/>
          <p:cNvSpPr/>
          <p:nvPr/>
        </p:nvSpPr>
        <p:spPr>
          <a:xfrm>
            <a:off x="4709160" y="2130552"/>
            <a:ext cx="1005840" cy="457200"/>
          </a:xfrm>
          <a:prstGeom prst="rect">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09160" y="2167128"/>
            <a:ext cx="1005840" cy="384048"/>
          </a:xfrm>
          <a:prstGeom prst="rect">
            <a:avLst/>
          </a:prstGeom>
          <a:noFill/>
        </p:spPr>
        <p:txBody>
          <a:bodyPr wrap="square">
            <a:spAutoFit/>
          </a:bodyPr>
          <a:lstStyle/>
          <a:p>
            <a:pPr algn="ctr"/>
            <a:r>
              <a:rPr sz="1050" b="0" i="0">
                <a:solidFill>
                  <a:srgbClr val="8A9A8B"/>
                </a:solidFill>
                <a:latin typeface="Georgia"/>
              </a:rPr>
              <a:t>Disparities</a:t>
            </a:r>
          </a:p>
        </p:txBody>
      </p:sp>
      <p:sp>
        <p:nvSpPr>
          <p:cNvPr id="23" name="TextBox 22"/>
          <p:cNvSpPr txBox="1"/>
          <p:nvPr/>
        </p:nvSpPr>
        <p:spPr>
          <a:xfrm>
            <a:off x="5806440" y="2130552"/>
            <a:ext cx="2971800" cy="594360"/>
          </a:xfrm>
          <a:prstGeom prst="rect">
            <a:avLst/>
          </a:prstGeom>
          <a:noFill/>
        </p:spPr>
        <p:txBody>
          <a:bodyPr wrap="square">
            <a:spAutoFit/>
          </a:bodyPr>
          <a:lstStyle/>
          <a:p>
            <a:pPr algn="l"/>
            <a:r>
              <a:rPr sz="1000" b="0" i="0">
                <a:solidFill>
                  <a:srgbClr val="2C2C2C"/>
                </a:solidFill>
                <a:latin typeface="Calibri"/>
              </a:rPr>
              <a:t>Race/ethnicity analysis across 5 groups, lollipop charts, trend lines, and 2030 projections</a:t>
            </a:r>
          </a:p>
        </p:txBody>
      </p:sp>
      <p:sp>
        <p:nvSpPr>
          <p:cNvPr id="24" name="Rectangle 23"/>
          <p:cNvSpPr/>
          <p:nvPr/>
        </p:nvSpPr>
        <p:spPr>
          <a:xfrm>
            <a:off x="4709160" y="2843784"/>
            <a:ext cx="1005840" cy="457200"/>
          </a:xfrm>
          <a:prstGeom prst="rect">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09160" y="2880360"/>
            <a:ext cx="1005840" cy="384048"/>
          </a:xfrm>
          <a:prstGeom prst="rect">
            <a:avLst/>
          </a:prstGeom>
          <a:noFill/>
        </p:spPr>
        <p:txBody>
          <a:bodyPr wrap="square">
            <a:spAutoFit/>
          </a:bodyPr>
          <a:lstStyle/>
          <a:p>
            <a:pPr algn="ctr"/>
            <a:r>
              <a:rPr sz="1050" b="0" i="0">
                <a:solidFill>
                  <a:srgbClr val="8A9A8B"/>
                </a:solidFill>
                <a:latin typeface="Georgia"/>
              </a:rPr>
              <a:t>Geography</a:t>
            </a:r>
          </a:p>
        </p:txBody>
      </p:sp>
      <p:sp>
        <p:nvSpPr>
          <p:cNvPr id="26" name="TextBox 25"/>
          <p:cNvSpPr txBox="1"/>
          <p:nvPr/>
        </p:nvSpPr>
        <p:spPr>
          <a:xfrm>
            <a:off x="5806440" y="2843784"/>
            <a:ext cx="2971800" cy="594360"/>
          </a:xfrm>
          <a:prstGeom prst="rect">
            <a:avLst/>
          </a:prstGeom>
          <a:noFill/>
        </p:spPr>
        <p:txBody>
          <a:bodyPr wrap="square">
            <a:spAutoFit/>
          </a:bodyPr>
          <a:lstStyle/>
          <a:p>
            <a:pPr algn="l"/>
            <a:r>
              <a:rPr sz="1000" b="0" i="0">
                <a:solidFill>
                  <a:srgbClr val="2C2C2C"/>
                </a:solidFill>
                <a:latin typeface="Calibri"/>
              </a:rPr>
              <a:t>50-state choropleth map, incidence vs. mortality toggle, state-to-state comparison tool</a:t>
            </a:r>
          </a:p>
        </p:txBody>
      </p:sp>
      <p:sp>
        <p:nvSpPr>
          <p:cNvPr id="27" name="Rectangle 26"/>
          <p:cNvSpPr/>
          <p:nvPr/>
        </p:nvSpPr>
        <p:spPr>
          <a:xfrm>
            <a:off x="4709160" y="3557015"/>
            <a:ext cx="1005840" cy="457200"/>
          </a:xfrm>
          <a:prstGeom prst="rect">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9160" y="3593591"/>
            <a:ext cx="1005840" cy="384048"/>
          </a:xfrm>
          <a:prstGeom prst="rect">
            <a:avLst/>
          </a:prstGeom>
          <a:noFill/>
        </p:spPr>
        <p:txBody>
          <a:bodyPr wrap="square">
            <a:spAutoFit/>
          </a:bodyPr>
          <a:lstStyle/>
          <a:p>
            <a:pPr algn="ctr"/>
            <a:r>
              <a:rPr sz="1050" b="0" i="0">
                <a:solidFill>
                  <a:srgbClr val="8A9A8B"/>
                </a:solidFill>
                <a:latin typeface="Georgia"/>
              </a:rPr>
              <a:t>Survival</a:t>
            </a:r>
          </a:p>
        </p:txBody>
      </p:sp>
      <p:sp>
        <p:nvSpPr>
          <p:cNvPr id="29" name="TextBox 28"/>
          <p:cNvSpPr txBox="1"/>
          <p:nvPr/>
        </p:nvSpPr>
        <p:spPr>
          <a:xfrm>
            <a:off x="5806440" y="3557015"/>
            <a:ext cx="2971800" cy="594360"/>
          </a:xfrm>
          <a:prstGeom prst="rect">
            <a:avLst/>
          </a:prstGeom>
          <a:noFill/>
        </p:spPr>
        <p:txBody>
          <a:bodyPr wrap="square">
            <a:spAutoFit/>
          </a:bodyPr>
          <a:lstStyle/>
          <a:p>
            <a:pPr algn="l"/>
            <a:r>
              <a:rPr sz="1000" b="0" i="0">
                <a:solidFill>
                  <a:srgbClr val="2C2C2C"/>
                </a:solidFill>
                <a:latin typeface="Calibri"/>
              </a:rPr>
              <a:t>5-year relative survival rates, Sankey flow diagram, age distribution of cases</a:t>
            </a:r>
          </a:p>
        </p:txBody>
      </p:sp>
      <p:sp>
        <p:nvSpPr>
          <p:cNvPr id="30" name="Rectangle 29"/>
          <p:cNvSpPr/>
          <p:nvPr/>
        </p:nvSpPr>
        <p:spPr>
          <a:xfrm>
            <a:off x="4709160" y="4270248"/>
            <a:ext cx="1005840" cy="457200"/>
          </a:xfrm>
          <a:prstGeom prst="rect">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09160" y="4306824"/>
            <a:ext cx="1005840" cy="384048"/>
          </a:xfrm>
          <a:prstGeom prst="rect">
            <a:avLst/>
          </a:prstGeom>
          <a:noFill/>
        </p:spPr>
        <p:txBody>
          <a:bodyPr wrap="square">
            <a:spAutoFit/>
          </a:bodyPr>
          <a:lstStyle/>
          <a:p>
            <a:pPr algn="ctr"/>
            <a:r>
              <a:rPr sz="1050" b="0" i="0">
                <a:solidFill>
                  <a:srgbClr val="8A9A8B"/>
                </a:solidFill>
                <a:latin typeface="Georgia"/>
              </a:rPr>
              <a:t>Your Risk</a:t>
            </a:r>
          </a:p>
        </p:txBody>
      </p:sp>
      <p:sp>
        <p:nvSpPr>
          <p:cNvPr id="32" name="TextBox 31"/>
          <p:cNvSpPr txBox="1"/>
          <p:nvPr/>
        </p:nvSpPr>
        <p:spPr>
          <a:xfrm>
            <a:off x="5806440" y="4270248"/>
            <a:ext cx="2971800" cy="594360"/>
          </a:xfrm>
          <a:prstGeom prst="rect">
            <a:avLst/>
          </a:prstGeom>
          <a:noFill/>
        </p:spPr>
        <p:txBody>
          <a:bodyPr wrap="square">
            <a:spAutoFit/>
          </a:bodyPr>
          <a:lstStyle/>
          <a:p>
            <a:pPr algn="l"/>
            <a:r>
              <a:rPr sz="1000" b="0" i="0">
                <a:solidFill>
                  <a:srgbClr val="2C2C2C"/>
                </a:solidFill>
                <a:latin typeface="Calibri"/>
              </a:rPr>
              <a:t>Personalized risk calculator using age and race with relative risk tier scoring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A2A28"/>
        </a:solidFill>
        <a:effectLst/>
      </p:bgPr>
    </p:bg>
    <p:spTree>
      <p:nvGrpSpPr>
        <p:cNvPr id="1" name=""/>
        <p:cNvGrpSpPr/>
        <p:nvPr/>
      </p:nvGrpSpPr>
      <p:grpSpPr/>
      <p:sp>
        <p:nvSpPr>
          <p:cNvPr id="2" name="Rectangle 1"/>
          <p:cNvSpPr/>
          <p:nvPr/>
        </p:nvSpPr>
        <p:spPr>
          <a:xfrm>
            <a:off x="0" y="0"/>
            <a:ext cx="128016" cy="5143500"/>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05840"/>
            <a:ext cx="8229600" cy="914400"/>
          </a:xfrm>
          <a:prstGeom prst="rect">
            <a:avLst/>
          </a:prstGeom>
          <a:noFill/>
        </p:spPr>
        <p:txBody>
          <a:bodyPr wrap="square">
            <a:spAutoFit/>
          </a:bodyPr>
          <a:lstStyle/>
          <a:p>
            <a:pPr algn="l"/>
            <a:r>
              <a:rPr sz="5600" b="0" i="0">
                <a:solidFill>
                  <a:srgbClr val="F7F5F2"/>
                </a:solidFill>
                <a:latin typeface="Georgia"/>
              </a:rPr>
              <a:t>TECHNICAL</a:t>
            </a:r>
          </a:p>
        </p:txBody>
      </p:sp>
      <p:sp>
        <p:nvSpPr>
          <p:cNvPr id="4" name="TextBox 3"/>
          <p:cNvSpPr txBox="1"/>
          <p:nvPr/>
        </p:nvSpPr>
        <p:spPr>
          <a:xfrm>
            <a:off x="365760" y="1874519"/>
            <a:ext cx="8229600" cy="914400"/>
          </a:xfrm>
          <a:prstGeom prst="rect">
            <a:avLst/>
          </a:prstGeom>
          <a:noFill/>
        </p:spPr>
        <p:txBody>
          <a:bodyPr wrap="square">
            <a:spAutoFit/>
          </a:bodyPr>
          <a:lstStyle/>
          <a:p>
            <a:pPr algn="l"/>
            <a:r>
              <a:rPr sz="5600" b="0" i="0">
                <a:solidFill>
                  <a:srgbClr val="8A9A8B"/>
                </a:solidFill>
                <a:latin typeface="Georgia"/>
              </a:rPr>
              <a:t>ARCHITECTURE</a:t>
            </a:r>
          </a:p>
        </p:txBody>
      </p:sp>
      <p:sp>
        <p:nvSpPr>
          <p:cNvPr id="5" name="TextBox 4"/>
          <p:cNvSpPr txBox="1"/>
          <p:nvPr/>
        </p:nvSpPr>
        <p:spPr>
          <a:xfrm>
            <a:off x="365760" y="2926080"/>
            <a:ext cx="8229600" cy="365760"/>
          </a:xfrm>
          <a:prstGeom prst="rect">
            <a:avLst/>
          </a:prstGeom>
          <a:noFill/>
        </p:spPr>
        <p:txBody>
          <a:bodyPr wrap="square">
            <a:spAutoFit/>
          </a:bodyPr>
          <a:lstStyle/>
          <a:p>
            <a:pPr algn="l"/>
            <a:r>
              <a:rPr sz="1500" b="0" i="1">
                <a:solidFill>
                  <a:srgbClr val="ABA59F"/>
                </a:solidFill>
                <a:latin typeface="Calibri"/>
              </a:rPr>
              <a:t>How the dashboard was designed and built from scratch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Rectangle 1"/>
          <p:cNvSpPr/>
          <p:nvPr/>
        </p:nvSpPr>
        <p:spPr>
          <a:xfrm>
            <a:off x="0" y="0"/>
            <a:ext cx="128016" cy="5143500"/>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56032"/>
            <a:ext cx="8412480" cy="566928"/>
          </a:xfrm>
          <a:prstGeom prst="rect">
            <a:avLst/>
          </a:prstGeom>
          <a:noFill/>
        </p:spPr>
        <p:txBody>
          <a:bodyPr wrap="square">
            <a:spAutoFit/>
          </a:bodyPr>
          <a:lstStyle/>
          <a:p>
            <a:pPr algn="l"/>
            <a:r>
              <a:rPr sz="3000" b="0" i="0">
                <a:solidFill>
                  <a:srgbClr val="2C2C2C"/>
                </a:solidFill>
                <a:latin typeface="Georgia"/>
              </a:rPr>
              <a:t>System Architecture</a:t>
            </a:r>
          </a:p>
        </p:txBody>
      </p:sp>
      <p:sp>
        <p:nvSpPr>
          <p:cNvPr id="4" name="Rectangle 3"/>
          <p:cNvSpPr/>
          <p:nvPr/>
        </p:nvSpPr>
        <p:spPr>
          <a:xfrm>
            <a:off x="365760" y="896112"/>
            <a:ext cx="8412480" cy="27432"/>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1051560"/>
            <a:ext cx="1920240" cy="1783080"/>
          </a:xfrm>
          <a:prstGeom prst="rect">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51560"/>
            <a:ext cx="1920240" cy="164592"/>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79" y="1252728"/>
            <a:ext cx="1737360" cy="384048"/>
          </a:xfrm>
          <a:prstGeom prst="rect">
            <a:avLst/>
          </a:prstGeom>
          <a:noFill/>
        </p:spPr>
        <p:txBody>
          <a:bodyPr wrap="square">
            <a:spAutoFit/>
          </a:bodyPr>
          <a:lstStyle/>
          <a:p>
            <a:pPr algn="l"/>
            <a:r>
              <a:rPr sz="1250" b="0" i="0">
                <a:solidFill>
                  <a:srgbClr val="F7F5F2"/>
                </a:solidFill>
                <a:latin typeface="Georgia"/>
              </a:rPr>
              <a:t>HTML/CSS Shell</a:t>
            </a:r>
          </a:p>
        </p:txBody>
      </p:sp>
      <p:sp>
        <p:nvSpPr>
          <p:cNvPr id="8" name="TextBox 7"/>
          <p:cNvSpPr txBox="1"/>
          <p:nvPr/>
        </p:nvSpPr>
        <p:spPr>
          <a:xfrm>
            <a:off x="411479" y="1682496"/>
            <a:ext cx="1737360" cy="1051560"/>
          </a:xfrm>
          <a:prstGeom prst="rect">
            <a:avLst/>
          </a:prstGeom>
          <a:noFill/>
        </p:spPr>
        <p:txBody>
          <a:bodyPr wrap="square">
            <a:spAutoFit/>
          </a:bodyPr>
          <a:lstStyle/>
          <a:p>
            <a:pPr algn="l"/>
            <a:r>
              <a:rPr sz="1000" b="0" i="0">
                <a:solidFill>
                  <a:srgbClr val="ABA59F"/>
                </a:solidFill>
                <a:latin typeface="Calibri"/>
              </a:rPr>
              <a:t>Structure &amp; Styling
Playfair Display + Inter
Responsive tabs &amp; KPI cards</a:t>
            </a:r>
          </a:p>
        </p:txBody>
      </p:sp>
      <p:sp>
        <p:nvSpPr>
          <p:cNvPr id="9" name="TextBox 8"/>
          <p:cNvSpPr txBox="1"/>
          <p:nvPr/>
        </p:nvSpPr>
        <p:spPr>
          <a:xfrm>
            <a:off x="2258568" y="1828800"/>
            <a:ext cx="201168" cy="274320"/>
          </a:xfrm>
          <a:prstGeom prst="rect">
            <a:avLst/>
          </a:prstGeom>
          <a:noFill/>
        </p:spPr>
        <p:txBody>
          <a:bodyPr wrap="square">
            <a:spAutoFit/>
          </a:bodyPr>
          <a:lstStyle/>
          <a:p>
            <a:pPr algn="ctr"/>
            <a:r>
              <a:rPr sz="1400" b="0" i="0">
                <a:solidFill>
                  <a:srgbClr val="ABA59F"/>
                </a:solidFill>
                <a:latin typeface="Calibri"/>
              </a:rPr>
              <a:t>→</a:t>
            </a:r>
          </a:p>
        </p:txBody>
      </p:sp>
      <p:sp>
        <p:nvSpPr>
          <p:cNvPr id="10" name="Rectangle 9"/>
          <p:cNvSpPr/>
          <p:nvPr/>
        </p:nvSpPr>
        <p:spPr>
          <a:xfrm>
            <a:off x="2468880" y="1051560"/>
            <a:ext cx="1920240" cy="1783080"/>
          </a:xfrm>
          <a:prstGeom prst="rect">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468880" y="1051560"/>
            <a:ext cx="1920240" cy="164592"/>
          </a:xfrm>
          <a:prstGeom prst="rect">
            <a:avLst/>
          </a:prstGeom>
          <a:solidFill>
            <a:srgbClr val="C17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1252728"/>
            <a:ext cx="1737360" cy="384048"/>
          </a:xfrm>
          <a:prstGeom prst="rect">
            <a:avLst/>
          </a:prstGeom>
          <a:noFill/>
        </p:spPr>
        <p:txBody>
          <a:bodyPr wrap="square">
            <a:spAutoFit/>
          </a:bodyPr>
          <a:lstStyle/>
          <a:p>
            <a:pPr algn="l"/>
            <a:r>
              <a:rPr sz="1250" b="0" i="0">
                <a:solidFill>
                  <a:srgbClr val="F7F5F2"/>
                </a:solidFill>
                <a:latin typeface="Georgia"/>
              </a:rPr>
              <a:t>Embedded Data</a:t>
            </a:r>
          </a:p>
        </p:txBody>
      </p:sp>
      <p:sp>
        <p:nvSpPr>
          <p:cNvPr id="13" name="TextBox 12"/>
          <p:cNvSpPr txBox="1"/>
          <p:nvPr/>
        </p:nvSpPr>
        <p:spPr>
          <a:xfrm>
            <a:off x="2560320" y="1682496"/>
            <a:ext cx="1737360" cy="1051560"/>
          </a:xfrm>
          <a:prstGeom prst="rect">
            <a:avLst/>
          </a:prstGeom>
          <a:noFill/>
        </p:spPr>
        <p:txBody>
          <a:bodyPr wrap="square">
            <a:spAutoFit/>
          </a:bodyPr>
          <a:lstStyle/>
          <a:p>
            <a:pPr algn="l"/>
            <a:r>
              <a:rPr sz="1000" b="0" i="0">
                <a:solidFill>
                  <a:srgbClr val="ABA59F"/>
                </a:solidFill>
                <a:latin typeface="Calibri"/>
              </a:rPr>
              <a:t>RAW JavaScript Object
SEER 22 · 23 years
All states, stages, races</a:t>
            </a:r>
          </a:p>
        </p:txBody>
      </p:sp>
      <p:sp>
        <p:nvSpPr>
          <p:cNvPr id="14" name="TextBox 13"/>
          <p:cNvSpPr txBox="1"/>
          <p:nvPr/>
        </p:nvSpPr>
        <p:spPr>
          <a:xfrm>
            <a:off x="4407408" y="1828800"/>
            <a:ext cx="201168" cy="274320"/>
          </a:xfrm>
          <a:prstGeom prst="rect">
            <a:avLst/>
          </a:prstGeom>
          <a:noFill/>
        </p:spPr>
        <p:txBody>
          <a:bodyPr wrap="square">
            <a:spAutoFit/>
          </a:bodyPr>
          <a:lstStyle/>
          <a:p>
            <a:pPr algn="ctr"/>
            <a:r>
              <a:rPr sz="1400" b="0" i="0">
                <a:solidFill>
                  <a:srgbClr val="ABA59F"/>
                </a:solidFill>
                <a:latin typeface="Calibri"/>
              </a:rPr>
              <a:t>→</a:t>
            </a:r>
          </a:p>
        </p:txBody>
      </p:sp>
      <p:sp>
        <p:nvSpPr>
          <p:cNvPr id="15" name="Rectangle 14"/>
          <p:cNvSpPr/>
          <p:nvPr/>
        </p:nvSpPr>
        <p:spPr>
          <a:xfrm>
            <a:off x="4617720" y="1051560"/>
            <a:ext cx="1920240" cy="1783080"/>
          </a:xfrm>
          <a:prstGeom prst="rect">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17720" y="1051560"/>
            <a:ext cx="1920240" cy="164592"/>
          </a:xfrm>
          <a:prstGeom prst="rect">
            <a:avLst/>
          </a:prstGeom>
          <a:solidFill>
            <a:srgbClr val="9B8F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09159" y="1252728"/>
            <a:ext cx="1737360" cy="384048"/>
          </a:xfrm>
          <a:prstGeom prst="rect">
            <a:avLst/>
          </a:prstGeom>
          <a:noFill/>
        </p:spPr>
        <p:txBody>
          <a:bodyPr wrap="square">
            <a:spAutoFit/>
          </a:bodyPr>
          <a:lstStyle/>
          <a:p>
            <a:pPr algn="l"/>
            <a:r>
              <a:rPr sz="1250" b="0" i="0">
                <a:solidFill>
                  <a:srgbClr val="F7F5F2"/>
                </a:solidFill>
                <a:latin typeface="Georgia"/>
              </a:rPr>
              <a:t>Plotly.js (CDN)</a:t>
            </a:r>
          </a:p>
        </p:txBody>
      </p:sp>
      <p:sp>
        <p:nvSpPr>
          <p:cNvPr id="18" name="TextBox 17"/>
          <p:cNvSpPr txBox="1"/>
          <p:nvPr/>
        </p:nvSpPr>
        <p:spPr>
          <a:xfrm>
            <a:off x="4709159" y="1682496"/>
            <a:ext cx="1737360" cy="1051560"/>
          </a:xfrm>
          <a:prstGeom prst="rect">
            <a:avLst/>
          </a:prstGeom>
          <a:noFill/>
        </p:spPr>
        <p:txBody>
          <a:bodyPr wrap="square">
            <a:spAutoFit/>
          </a:bodyPr>
          <a:lstStyle/>
          <a:p>
            <a:pPr algn="l"/>
            <a:r>
              <a:rPr sz="1000" b="0" i="0">
                <a:solidFill>
                  <a:srgbClr val="ABA59F"/>
                </a:solidFill>
                <a:latin typeface="Calibri"/>
              </a:rPr>
              <a:t>3-Fallback Async Loader
plot.ly → jsDelivr → unpkg
Fault-tolerant rendering</a:t>
            </a:r>
          </a:p>
        </p:txBody>
      </p:sp>
      <p:sp>
        <p:nvSpPr>
          <p:cNvPr id="19" name="TextBox 18"/>
          <p:cNvSpPr txBox="1"/>
          <p:nvPr/>
        </p:nvSpPr>
        <p:spPr>
          <a:xfrm>
            <a:off x="6556248" y="1828800"/>
            <a:ext cx="201168" cy="274320"/>
          </a:xfrm>
          <a:prstGeom prst="rect">
            <a:avLst/>
          </a:prstGeom>
          <a:noFill/>
        </p:spPr>
        <p:txBody>
          <a:bodyPr wrap="square">
            <a:spAutoFit/>
          </a:bodyPr>
          <a:lstStyle/>
          <a:p>
            <a:pPr algn="ctr"/>
            <a:r>
              <a:rPr sz="1400" b="0" i="0">
                <a:solidFill>
                  <a:srgbClr val="ABA59F"/>
                </a:solidFill>
                <a:latin typeface="Calibri"/>
              </a:rPr>
              <a:t>→</a:t>
            </a:r>
          </a:p>
        </p:txBody>
      </p:sp>
      <p:sp>
        <p:nvSpPr>
          <p:cNvPr id="20" name="Rectangle 19"/>
          <p:cNvSpPr/>
          <p:nvPr/>
        </p:nvSpPr>
        <p:spPr>
          <a:xfrm>
            <a:off x="6766560" y="1051560"/>
            <a:ext cx="1920240" cy="1783080"/>
          </a:xfrm>
          <a:prstGeom prst="rect">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766560" y="1051560"/>
            <a:ext cx="1920240" cy="164592"/>
          </a:xfrm>
          <a:prstGeom prst="rect">
            <a:avLst/>
          </a:prstGeom>
          <a:solidFill>
            <a:srgbClr val="C4A8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0" y="1252728"/>
            <a:ext cx="1737360" cy="384048"/>
          </a:xfrm>
          <a:prstGeom prst="rect">
            <a:avLst/>
          </a:prstGeom>
          <a:noFill/>
        </p:spPr>
        <p:txBody>
          <a:bodyPr wrap="square">
            <a:spAutoFit/>
          </a:bodyPr>
          <a:lstStyle/>
          <a:p>
            <a:pPr algn="l"/>
            <a:r>
              <a:rPr sz="1250" b="0" i="0">
                <a:solidFill>
                  <a:srgbClr val="F7F5F2"/>
                </a:solidFill>
                <a:latin typeface="Georgia"/>
              </a:rPr>
              <a:t>Chart Functions</a:t>
            </a:r>
          </a:p>
        </p:txBody>
      </p:sp>
      <p:sp>
        <p:nvSpPr>
          <p:cNvPr id="23" name="TextBox 22"/>
          <p:cNvSpPr txBox="1"/>
          <p:nvPr/>
        </p:nvSpPr>
        <p:spPr>
          <a:xfrm>
            <a:off x="6858000" y="1682496"/>
            <a:ext cx="1737360" cy="1051560"/>
          </a:xfrm>
          <a:prstGeom prst="rect">
            <a:avLst/>
          </a:prstGeom>
          <a:noFill/>
        </p:spPr>
        <p:txBody>
          <a:bodyPr wrap="square">
            <a:spAutoFit/>
          </a:bodyPr>
          <a:lstStyle/>
          <a:p>
            <a:pPr algn="l"/>
            <a:r>
              <a:rPr sz="1000" b="0" i="0">
                <a:solidFill>
                  <a:srgbClr val="ABA59F"/>
                </a:solidFill>
                <a:latin typeface="Calibri"/>
              </a:rPr>
              <a:t>12 render() functions
Linear regression engine
Interactive state mgmt</a:t>
            </a:r>
          </a:p>
        </p:txBody>
      </p:sp>
      <p:sp>
        <p:nvSpPr>
          <p:cNvPr id="24" name="Rectangle 23"/>
          <p:cNvSpPr/>
          <p:nvPr/>
        </p:nvSpPr>
        <p:spPr>
          <a:xfrm>
            <a:off x="320040" y="2971800"/>
            <a:ext cx="8503920" cy="713232"/>
          </a:xfrm>
          <a:prstGeom prst="rect">
            <a:avLst/>
          </a:prstGeom>
          <a:solidFill>
            <a:srgbClr val="E8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20040" y="2971800"/>
            <a:ext cx="54864" cy="713232"/>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3035808"/>
            <a:ext cx="8229600" cy="594360"/>
          </a:xfrm>
          <a:prstGeom prst="rect">
            <a:avLst/>
          </a:prstGeom>
          <a:noFill/>
        </p:spPr>
        <p:txBody>
          <a:bodyPr wrap="square">
            <a:spAutoFit/>
          </a:bodyPr>
          <a:lstStyle/>
          <a:p>
            <a:pPr algn="l"/>
            <a:r>
              <a:rPr sz="1150" b="0" i="0">
                <a:solidFill>
                  <a:srgbClr val="2C2C2C"/>
                </a:solidFill>
                <a:latin typeface="Calibri"/>
              </a:rPr>
              <a:t>✓  Self-contained: a single .html file that runs in any browser, online or offline, with no server, no database, no build step, and no configuration. Can be shared via email, USB drive, or GitHub Pages.</a:t>
            </a:r>
          </a:p>
        </p:txBody>
      </p:sp>
      <p:sp>
        <p:nvSpPr>
          <p:cNvPr id="27" name="Rectangle 26"/>
          <p:cNvSpPr/>
          <p:nvPr/>
        </p:nvSpPr>
        <p:spPr>
          <a:xfrm>
            <a:off x="320040" y="3794760"/>
            <a:ext cx="54864" cy="914400"/>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3794760"/>
            <a:ext cx="2651760" cy="320040"/>
          </a:xfrm>
          <a:prstGeom prst="rect">
            <a:avLst/>
          </a:prstGeom>
          <a:noFill/>
        </p:spPr>
        <p:txBody>
          <a:bodyPr wrap="square">
            <a:spAutoFit/>
          </a:bodyPr>
          <a:lstStyle/>
          <a:p>
            <a:pPr algn="l"/>
            <a:r>
              <a:rPr sz="1250" b="0" i="0">
                <a:solidFill>
                  <a:srgbClr val="8A9A8B"/>
                </a:solidFill>
                <a:latin typeface="Georgia"/>
              </a:rPr>
              <a:t>Portability</a:t>
            </a:r>
          </a:p>
        </p:txBody>
      </p:sp>
      <p:sp>
        <p:nvSpPr>
          <p:cNvPr id="29" name="TextBox 28"/>
          <p:cNvSpPr txBox="1"/>
          <p:nvPr/>
        </p:nvSpPr>
        <p:spPr>
          <a:xfrm>
            <a:off x="457200" y="4160520"/>
            <a:ext cx="2651760" cy="548640"/>
          </a:xfrm>
          <a:prstGeom prst="rect">
            <a:avLst/>
          </a:prstGeom>
          <a:noFill/>
        </p:spPr>
        <p:txBody>
          <a:bodyPr wrap="square">
            <a:spAutoFit/>
          </a:bodyPr>
          <a:lstStyle/>
          <a:p>
            <a:pPr algn="l"/>
            <a:r>
              <a:rPr sz="1050" b="0" i="0">
                <a:solidFill>
                  <a:srgbClr val="2C2C2C"/>
                </a:solidFill>
                <a:latin typeface="Calibri"/>
              </a:rPr>
              <a:t>Single file — runs anywhere
without dependencies</a:t>
            </a:r>
          </a:p>
        </p:txBody>
      </p:sp>
      <p:sp>
        <p:nvSpPr>
          <p:cNvPr id="30" name="Rectangle 29"/>
          <p:cNvSpPr/>
          <p:nvPr/>
        </p:nvSpPr>
        <p:spPr>
          <a:xfrm>
            <a:off x="3200400" y="3794760"/>
            <a:ext cx="54864" cy="914400"/>
          </a:xfrm>
          <a:prstGeom prst="rect">
            <a:avLst/>
          </a:prstGeom>
          <a:solidFill>
            <a:srgbClr val="C17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37560" y="3794760"/>
            <a:ext cx="2651760" cy="320040"/>
          </a:xfrm>
          <a:prstGeom prst="rect">
            <a:avLst/>
          </a:prstGeom>
          <a:noFill/>
        </p:spPr>
        <p:txBody>
          <a:bodyPr wrap="square">
            <a:spAutoFit/>
          </a:bodyPr>
          <a:lstStyle/>
          <a:p>
            <a:pPr algn="l"/>
            <a:r>
              <a:rPr sz="1250" b="0" i="0">
                <a:solidFill>
                  <a:srgbClr val="C17F5C"/>
                </a:solidFill>
                <a:latin typeface="Georgia"/>
              </a:rPr>
              <a:t>Reliability</a:t>
            </a:r>
          </a:p>
        </p:txBody>
      </p:sp>
      <p:sp>
        <p:nvSpPr>
          <p:cNvPr id="32" name="TextBox 31"/>
          <p:cNvSpPr txBox="1"/>
          <p:nvPr/>
        </p:nvSpPr>
        <p:spPr>
          <a:xfrm>
            <a:off x="3337560" y="4160520"/>
            <a:ext cx="2651760" cy="548640"/>
          </a:xfrm>
          <a:prstGeom prst="rect">
            <a:avLst/>
          </a:prstGeom>
          <a:noFill/>
        </p:spPr>
        <p:txBody>
          <a:bodyPr wrap="square">
            <a:spAutoFit/>
          </a:bodyPr>
          <a:lstStyle/>
          <a:p>
            <a:pPr algn="l"/>
            <a:r>
              <a:rPr sz="1050" b="0" i="0">
                <a:solidFill>
                  <a:srgbClr val="2C2C2C"/>
                </a:solidFill>
                <a:latin typeface="Calibri"/>
              </a:rPr>
              <a:t>3-CDN fallback ensures charts
render even if one CDN fails</a:t>
            </a:r>
          </a:p>
        </p:txBody>
      </p:sp>
      <p:sp>
        <p:nvSpPr>
          <p:cNvPr id="33" name="Rectangle 32"/>
          <p:cNvSpPr/>
          <p:nvPr/>
        </p:nvSpPr>
        <p:spPr>
          <a:xfrm>
            <a:off x="6080759" y="3794760"/>
            <a:ext cx="54864" cy="914400"/>
          </a:xfrm>
          <a:prstGeom prst="rect">
            <a:avLst/>
          </a:prstGeom>
          <a:solidFill>
            <a:srgbClr val="9B8F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17920" y="3794760"/>
            <a:ext cx="2651760" cy="320040"/>
          </a:xfrm>
          <a:prstGeom prst="rect">
            <a:avLst/>
          </a:prstGeom>
          <a:noFill/>
        </p:spPr>
        <p:txBody>
          <a:bodyPr wrap="square">
            <a:spAutoFit/>
          </a:bodyPr>
          <a:lstStyle/>
          <a:p>
            <a:pPr algn="l"/>
            <a:r>
              <a:rPr sz="1250" b="0" i="0">
                <a:solidFill>
                  <a:srgbClr val="9B8FAC"/>
                </a:solidFill>
                <a:latin typeface="Georgia"/>
              </a:rPr>
              <a:t>Performance</a:t>
            </a:r>
          </a:p>
        </p:txBody>
      </p:sp>
      <p:sp>
        <p:nvSpPr>
          <p:cNvPr id="35" name="TextBox 34"/>
          <p:cNvSpPr txBox="1"/>
          <p:nvPr/>
        </p:nvSpPr>
        <p:spPr>
          <a:xfrm>
            <a:off x="6217920" y="4160520"/>
            <a:ext cx="2651760" cy="548640"/>
          </a:xfrm>
          <a:prstGeom prst="rect">
            <a:avLst/>
          </a:prstGeom>
          <a:noFill/>
        </p:spPr>
        <p:txBody>
          <a:bodyPr wrap="square">
            <a:spAutoFit/>
          </a:bodyPr>
          <a:lstStyle/>
          <a:p>
            <a:pPr algn="l"/>
            <a:r>
              <a:rPr sz="1050" b="0" i="0">
                <a:solidFill>
                  <a:srgbClr val="2C2C2C"/>
                </a:solidFill>
                <a:latin typeface="Calibri"/>
              </a:rPr>
              <a:t>All data embedded as JS literals
— zero data network requests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Rectangle 1"/>
          <p:cNvSpPr/>
          <p:nvPr/>
        </p:nvSpPr>
        <p:spPr>
          <a:xfrm>
            <a:off x="0" y="0"/>
            <a:ext cx="128016" cy="5143500"/>
          </a:xfrm>
          <a:prstGeom prst="rect">
            <a:avLst/>
          </a:prstGeom>
          <a:solidFill>
            <a:srgbClr val="C17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56032"/>
            <a:ext cx="8412480" cy="566928"/>
          </a:xfrm>
          <a:prstGeom prst="rect">
            <a:avLst/>
          </a:prstGeom>
          <a:noFill/>
        </p:spPr>
        <p:txBody>
          <a:bodyPr wrap="square">
            <a:spAutoFit/>
          </a:bodyPr>
          <a:lstStyle/>
          <a:p>
            <a:pPr algn="l"/>
            <a:r>
              <a:rPr sz="3000" b="0" i="0">
                <a:solidFill>
                  <a:srgbClr val="2C2C2C"/>
                </a:solidFill>
                <a:latin typeface="Georgia"/>
              </a:rPr>
              <a:t>Build Process — From Data to Dashboard</a:t>
            </a:r>
          </a:p>
        </p:txBody>
      </p:sp>
      <p:sp>
        <p:nvSpPr>
          <p:cNvPr id="4" name="Rectangle 3"/>
          <p:cNvSpPr/>
          <p:nvPr/>
        </p:nvSpPr>
        <p:spPr>
          <a:xfrm>
            <a:off x="365760" y="896112"/>
            <a:ext cx="8412480" cy="27432"/>
          </a:xfrm>
          <a:prstGeom prst="rect">
            <a:avLst/>
          </a:prstGeom>
          <a:solidFill>
            <a:srgbClr val="C17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1051560"/>
            <a:ext cx="1920240" cy="1234440"/>
          </a:xfrm>
          <a:prstGeom prst="rect">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93192" y="1124712"/>
            <a:ext cx="292608" cy="292608"/>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93192" y="1124712"/>
            <a:ext cx="292608" cy="292608"/>
          </a:xfrm>
          <a:prstGeom prst="rect">
            <a:avLst/>
          </a:prstGeom>
          <a:noFill/>
        </p:spPr>
        <p:txBody>
          <a:bodyPr wrap="square">
            <a:spAutoFit/>
          </a:bodyPr>
          <a:lstStyle/>
          <a:p>
            <a:pPr algn="ctr"/>
            <a:r>
              <a:rPr sz="900" b="1" i="0">
                <a:solidFill>
                  <a:srgbClr val="2A2A28"/>
                </a:solidFill>
                <a:latin typeface="Calibri"/>
              </a:rPr>
              <a:t>01</a:t>
            </a:r>
          </a:p>
        </p:txBody>
      </p:sp>
      <p:sp>
        <p:nvSpPr>
          <p:cNvPr id="8" name="TextBox 7"/>
          <p:cNvSpPr txBox="1"/>
          <p:nvPr/>
        </p:nvSpPr>
        <p:spPr>
          <a:xfrm>
            <a:off x="731520" y="1143000"/>
            <a:ext cx="1417320" cy="320040"/>
          </a:xfrm>
          <a:prstGeom prst="rect">
            <a:avLst/>
          </a:prstGeom>
          <a:noFill/>
        </p:spPr>
        <p:txBody>
          <a:bodyPr wrap="square">
            <a:spAutoFit/>
          </a:bodyPr>
          <a:lstStyle/>
          <a:p>
            <a:pPr algn="l"/>
            <a:r>
              <a:rPr sz="1150" b="0" i="0">
                <a:solidFill>
                  <a:srgbClr val="F7F5F2"/>
                </a:solidFill>
                <a:latin typeface="Georgia"/>
              </a:rPr>
              <a:t>Raw Data</a:t>
            </a:r>
          </a:p>
        </p:txBody>
      </p:sp>
      <p:sp>
        <p:nvSpPr>
          <p:cNvPr id="9" name="TextBox 8"/>
          <p:cNvSpPr txBox="1"/>
          <p:nvPr/>
        </p:nvSpPr>
        <p:spPr>
          <a:xfrm>
            <a:off x="411479" y="1527048"/>
            <a:ext cx="1737360" cy="694944"/>
          </a:xfrm>
          <a:prstGeom prst="rect">
            <a:avLst/>
          </a:prstGeom>
          <a:noFill/>
        </p:spPr>
        <p:txBody>
          <a:bodyPr wrap="square">
            <a:spAutoFit/>
          </a:bodyPr>
          <a:lstStyle/>
          <a:p>
            <a:pPr algn="l"/>
            <a:r>
              <a:rPr sz="950" b="0" i="0">
                <a:solidFill>
                  <a:srgbClr val="ABA59F"/>
                </a:solidFill>
                <a:latin typeface="Calibri"/>
              </a:rPr>
              <a:t>SEER 22 CSV
download from
NCI SEER*Stat</a:t>
            </a:r>
          </a:p>
        </p:txBody>
      </p:sp>
      <p:sp>
        <p:nvSpPr>
          <p:cNvPr id="10" name="TextBox 9"/>
          <p:cNvSpPr txBox="1"/>
          <p:nvPr/>
        </p:nvSpPr>
        <p:spPr>
          <a:xfrm>
            <a:off x="2258568" y="1554480"/>
            <a:ext cx="201168" cy="256032"/>
          </a:xfrm>
          <a:prstGeom prst="rect">
            <a:avLst/>
          </a:prstGeom>
          <a:noFill/>
        </p:spPr>
        <p:txBody>
          <a:bodyPr wrap="square">
            <a:spAutoFit/>
          </a:bodyPr>
          <a:lstStyle/>
          <a:p>
            <a:pPr algn="ctr"/>
            <a:r>
              <a:rPr sz="1300" b="0" i="0">
                <a:solidFill>
                  <a:srgbClr val="ABA59F"/>
                </a:solidFill>
                <a:latin typeface="Calibri"/>
              </a:rPr>
              <a:t>→</a:t>
            </a:r>
          </a:p>
        </p:txBody>
      </p:sp>
      <p:sp>
        <p:nvSpPr>
          <p:cNvPr id="11" name="Rectangle 10"/>
          <p:cNvSpPr/>
          <p:nvPr/>
        </p:nvSpPr>
        <p:spPr>
          <a:xfrm>
            <a:off x="2468880" y="1051560"/>
            <a:ext cx="1920240" cy="1234440"/>
          </a:xfrm>
          <a:prstGeom prst="rect">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42032" y="1124712"/>
            <a:ext cx="292608" cy="292608"/>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42032" y="1124712"/>
            <a:ext cx="292608" cy="292608"/>
          </a:xfrm>
          <a:prstGeom prst="rect">
            <a:avLst/>
          </a:prstGeom>
          <a:noFill/>
        </p:spPr>
        <p:txBody>
          <a:bodyPr wrap="square">
            <a:spAutoFit/>
          </a:bodyPr>
          <a:lstStyle/>
          <a:p>
            <a:pPr algn="ctr"/>
            <a:r>
              <a:rPr sz="900" b="1" i="0">
                <a:solidFill>
                  <a:srgbClr val="2A2A28"/>
                </a:solidFill>
                <a:latin typeface="Calibri"/>
              </a:rPr>
              <a:t>02</a:t>
            </a:r>
          </a:p>
        </p:txBody>
      </p:sp>
      <p:sp>
        <p:nvSpPr>
          <p:cNvPr id="14" name="TextBox 13"/>
          <p:cNvSpPr txBox="1"/>
          <p:nvPr/>
        </p:nvSpPr>
        <p:spPr>
          <a:xfrm>
            <a:off x="2880360" y="1143000"/>
            <a:ext cx="1417320" cy="320040"/>
          </a:xfrm>
          <a:prstGeom prst="rect">
            <a:avLst/>
          </a:prstGeom>
          <a:noFill/>
        </p:spPr>
        <p:txBody>
          <a:bodyPr wrap="square">
            <a:spAutoFit/>
          </a:bodyPr>
          <a:lstStyle/>
          <a:p>
            <a:pPr algn="l"/>
            <a:r>
              <a:rPr sz="1150" b="0" i="0">
                <a:solidFill>
                  <a:srgbClr val="F7F5F2"/>
                </a:solidFill>
                <a:latin typeface="Georgia"/>
              </a:rPr>
              <a:t>Structure Data</a:t>
            </a:r>
          </a:p>
        </p:txBody>
      </p:sp>
      <p:sp>
        <p:nvSpPr>
          <p:cNvPr id="15" name="TextBox 14"/>
          <p:cNvSpPr txBox="1"/>
          <p:nvPr/>
        </p:nvSpPr>
        <p:spPr>
          <a:xfrm>
            <a:off x="2560320" y="1527048"/>
            <a:ext cx="1737360" cy="694944"/>
          </a:xfrm>
          <a:prstGeom prst="rect">
            <a:avLst/>
          </a:prstGeom>
          <a:noFill/>
        </p:spPr>
        <p:txBody>
          <a:bodyPr wrap="square">
            <a:spAutoFit/>
          </a:bodyPr>
          <a:lstStyle/>
          <a:p>
            <a:pPr algn="l"/>
            <a:r>
              <a:rPr sz="950" b="0" i="0">
                <a:solidFill>
                  <a:srgbClr val="ABA59F"/>
                </a:solidFill>
                <a:latin typeface="Calibri"/>
              </a:rPr>
              <a:t>Format as JS
objects, clean
field names</a:t>
            </a:r>
          </a:p>
        </p:txBody>
      </p:sp>
      <p:sp>
        <p:nvSpPr>
          <p:cNvPr id="16" name="TextBox 15"/>
          <p:cNvSpPr txBox="1"/>
          <p:nvPr/>
        </p:nvSpPr>
        <p:spPr>
          <a:xfrm>
            <a:off x="4407408" y="1554480"/>
            <a:ext cx="201168" cy="256032"/>
          </a:xfrm>
          <a:prstGeom prst="rect">
            <a:avLst/>
          </a:prstGeom>
          <a:noFill/>
        </p:spPr>
        <p:txBody>
          <a:bodyPr wrap="square">
            <a:spAutoFit/>
          </a:bodyPr>
          <a:lstStyle/>
          <a:p>
            <a:pPr algn="ctr"/>
            <a:r>
              <a:rPr sz="1300" b="0" i="0">
                <a:solidFill>
                  <a:srgbClr val="ABA59F"/>
                </a:solidFill>
                <a:latin typeface="Calibri"/>
              </a:rPr>
              <a:t>→</a:t>
            </a:r>
          </a:p>
        </p:txBody>
      </p:sp>
      <p:sp>
        <p:nvSpPr>
          <p:cNvPr id="17" name="Rectangle 16"/>
          <p:cNvSpPr/>
          <p:nvPr/>
        </p:nvSpPr>
        <p:spPr>
          <a:xfrm>
            <a:off x="4617720" y="1051560"/>
            <a:ext cx="1920240" cy="1234440"/>
          </a:xfrm>
          <a:prstGeom prst="rect">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690872" y="1124712"/>
            <a:ext cx="292608" cy="292608"/>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90872" y="1124712"/>
            <a:ext cx="292608" cy="292608"/>
          </a:xfrm>
          <a:prstGeom prst="rect">
            <a:avLst/>
          </a:prstGeom>
          <a:noFill/>
        </p:spPr>
        <p:txBody>
          <a:bodyPr wrap="square">
            <a:spAutoFit/>
          </a:bodyPr>
          <a:lstStyle/>
          <a:p>
            <a:pPr algn="ctr"/>
            <a:r>
              <a:rPr sz="900" b="1" i="0">
                <a:solidFill>
                  <a:srgbClr val="2A2A28"/>
                </a:solidFill>
                <a:latin typeface="Calibri"/>
              </a:rPr>
              <a:t>03</a:t>
            </a:r>
          </a:p>
        </p:txBody>
      </p:sp>
      <p:sp>
        <p:nvSpPr>
          <p:cNvPr id="20" name="TextBox 19"/>
          <p:cNvSpPr txBox="1"/>
          <p:nvPr/>
        </p:nvSpPr>
        <p:spPr>
          <a:xfrm>
            <a:off x="5029200" y="1143000"/>
            <a:ext cx="1417320" cy="320040"/>
          </a:xfrm>
          <a:prstGeom prst="rect">
            <a:avLst/>
          </a:prstGeom>
          <a:noFill/>
        </p:spPr>
        <p:txBody>
          <a:bodyPr wrap="square">
            <a:spAutoFit/>
          </a:bodyPr>
          <a:lstStyle/>
          <a:p>
            <a:pPr algn="l"/>
            <a:r>
              <a:rPr sz="1150" b="0" i="0">
                <a:solidFill>
                  <a:srgbClr val="F7F5F2"/>
                </a:solidFill>
                <a:latin typeface="Georgia"/>
              </a:rPr>
              <a:t>HTML Shell</a:t>
            </a:r>
          </a:p>
        </p:txBody>
      </p:sp>
      <p:sp>
        <p:nvSpPr>
          <p:cNvPr id="21" name="TextBox 20"/>
          <p:cNvSpPr txBox="1"/>
          <p:nvPr/>
        </p:nvSpPr>
        <p:spPr>
          <a:xfrm>
            <a:off x="4709159" y="1527048"/>
            <a:ext cx="1737360" cy="694944"/>
          </a:xfrm>
          <a:prstGeom prst="rect">
            <a:avLst/>
          </a:prstGeom>
          <a:noFill/>
        </p:spPr>
        <p:txBody>
          <a:bodyPr wrap="square">
            <a:spAutoFit/>
          </a:bodyPr>
          <a:lstStyle/>
          <a:p>
            <a:pPr algn="l"/>
            <a:r>
              <a:rPr sz="950" b="0" i="0">
                <a:solidFill>
                  <a:srgbClr val="ABA59F"/>
                </a:solidFill>
                <a:latin typeface="Calibri"/>
              </a:rPr>
              <a:t>Tabs, KPI cards,
CSS styling,
responsive layout</a:t>
            </a:r>
          </a:p>
        </p:txBody>
      </p:sp>
      <p:sp>
        <p:nvSpPr>
          <p:cNvPr id="22" name="TextBox 21"/>
          <p:cNvSpPr txBox="1"/>
          <p:nvPr/>
        </p:nvSpPr>
        <p:spPr>
          <a:xfrm>
            <a:off x="6556248" y="1554480"/>
            <a:ext cx="201168" cy="256032"/>
          </a:xfrm>
          <a:prstGeom prst="rect">
            <a:avLst/>
          </a:prstGeom>
          <a:noFill/>
        </p:spPr>
        <p:txBody>
          <a:bodyPr wrap="square">
            <a:spAutoFit/>
          </a:bodyPr>
          <a:lstStyle/>
          <a:p>
            <a:pPr algn="ctr"/>
            <a:r>
              <a:rPr sz="1300" b="0" i="0">
                <a:solidFill>
                  <a:srgbClr val="ABA59F"/>
                </a:solidFill>
                <a:latin typeface="Calibri"/>
              </a:rPr>
              <a:t>→</a:t>
            </a:r>
          </a:p>
        </p:txBody>
      </p:sp>
      <p:sp>
        <p:nvSpPr>
          <p:cNvPr id="23" name="Rectangle 22"/>
          <p:cNvSpPr/>
          <p:nvPr/>
        </p:nvSpPr>
        <p:spPr>
          <a:xfrm>
            <a:off x="6766560" y="1051560"/>
            <a:ext cx="1920240" cy="1234440"/>
          </a:xfrm>
          <a:prstGeom prst="rect">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39712" y="1124712"/>
            <a:ext cx="292608" cy="292608"/>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39712" y="1124712"/>
            <a:ext cx="292608" cy="292608"/>
          </a:xfrm>
          <a:prstGeom prst="rect">
            <a:avLst/>
          </a:prstGeom>
          <a:noFill/>
        </p:spPr>
        <p:txBody>
          <a:bodyPr wrap="square">
            <a:spAutoFit/>
          </a:bodyPr>
          <a:lstStyle/>
          <a:p>
            <a:pPr algn="ctr"/>
            <a:r>
              <a:rPr sz="900" b="1" i="0">
                <a:solidFill>
                  <a:srgbClr val="2A2A28"/>
                </a:solidFill>
                <a:latin typeface="Calibri"/>
              </a:rPr>
              <a:t>04</a:t>
            </a:r>
          </a:p>
        </p:txBody>
      </p:sp>
      <p:sp>
        <p:nvSpPr>
          <p:cNvPr id="26" name="TextBox 25"/>
          <p:cNvSpPr txBox="1"/>
          <p:nvPr/>
        </p:nvSpPr>
        <p:spPr>
          <a:xfrm>
            <a:off x="7178040" y="1143000"/>
            <a:ext cx="1417320" cy="320040"/>
          </a:xfrm>
          <a:prstGeom prst="rect">
            <a:avLst/>
          </a:prstGeom>
          <a:noFill/>
        </p:spPr>
        <p:txBody>
          <a:bodyPr wrap="square">
            <a:spAutoFit/>
          </a:bodyPr>
          <a:lstStyle/>
          <a:p>
            <a:pPr algn="l"/>
            <a:r>
              <a:rPr sz="1150" b="0" i="0">
                <a:solidFill>
                  <a:srgbClr val="F7F5F2"/>
                </a:solidFill>
                <a:latin typeface="Georgia"/>
              </a:rPr>
              <a:t>Plotly Charts</a:t>
            </a:r>
          </a:p>
        </p:txBody>
      </p:sp>
      <p:sp>
        <p:nvSpPr>
          <p:cNvPr id="27" name="TextBox 26"/>
          <p:cNvSpPr txBox="1"/>
          <p:nvPr/>
        </p:nvSpPr>
        <p:spPr>
          <a:xfrm>
            <a:off x="6858000" y="1527048"/>
            <a:ext cx="1737360" cy="694944"/>
          </a:xfrm>
          <a:prstGeom prst="rect">
            <a:avLst/>
          </a:prstGeom>
          <a:noFill/>
        </p:spPr>
        <p:txBody>
          <a:bodyPr wrap="square">
            <a:spAutoFit/>
          </a:bodyPr>
          <a:lstStyle/>
          <a:p>
            <a:pPr algn="l"/>
            <a:r>
              <a:rPr sz="950" b="0" i="0">
                <a:solidFill>
                  <a:srgbClr val="ABA59F"/>
                </a:solidFill>
                <a:latin typeface="Calibri"/>
              </a:rPr>
              <a:t>12 render()
functions built
iteratively</a:t>
            </a:r>
          </a:p>
        </p:txBody>
      </p:sp>
      <p:sp>
        <p:nvSpPr>
          <p:cNvPr id="28" name="Rectangle 27"/>
          <p:cNvSpPr/>
          <p:nvPr/>
        </p:nvSpPr>
        <p:spPr>
          <a:xfrm>
            <a:off x="320040" y="2578608"/>
            <a:ext cx="1920240" cy="1234440"/>
          </a:xfrm>
          <a:prstGeom prst="rect">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93192" y="2651760"/>
            <a:ext cx="292608" cy="292608"/>
          </a:xfrm>
          <a:prstGeom prst="rect">
            <a:avLst/>
          </a:prstGeom>
          <a:solidFill>
            <a:srgbClr val="C17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93192" y="2651760"/>
            <a:ext cx="292608" cy="292608"/>
          </a:xfrm>
          <a:prstGeom prst="rect">
            <a:avLst/>
          </a:prstGeom>
          <a:noFill/>
        </p:spPr>
        <p:txBody>
          <a:bodyPr wrap="square">
            <a:spAutoFit/>
          </a:bodyPr>
          <a:lstStyle/>
          <a:p>
            <a:pPr algn="ctr"/>
            <a:r>
              <a:rPr sz="900" b="1" i="0">
                <a:solidFill>
                  <a:srgbClr val="2A2A28"/>
                </a:solidFill>
                <a:latin typeface="Calibri"/>
              </a:rPr>
              <a:t>05</a:t>
            </a:r>
          </a:p>
        </p:txBody>
      </p:sp>
      <p:sp>
        <p:nvSpPr>
          <p:cNvPr id="31" name="TextBox 30"/>
          <p:cNvSpPr txBox="1"/>
          <p:nvPr/>
        </p:nvSpPr>
        <p:spPr>
          <a:xfrm>
            <a:off x="731520" y="2670048"/>
            <a:ext cx="1417320" cy="320040"/>
          </a:xfrm>
          <a:prstGeom prst="rect">
            <a:avLst/>
          </a:prstGeom>
          <a:noFill/>
        </p:spPr>
        <p:txBody>
          <a:bodyPr wrap="square">
            <a:spAutoFit/>
          </a:bodyPr>
          <a:lstStyle/>
          <a:p>
            <a:pPr algn="l"/>
            <a:r>
              <a:rPr sz="1150" b="0" i="0">
                <a:solidFill>
                  <a:srgbClr val="F7F5F2"/>
                </a:solidFill>
                <a:latin typeface="Georgia"/>
              </a:rPr>
              <a:t>Interactions</a:t>
            </a:r>
          </a:p>
        </p:txBody>
      </p:sp>
      <p:sp>
        <p:nvSpPr>
          <p:cNvPr id="32" name="TextBox 31"/>
          <p:cNvSpPr txBox="1"/>
          <p:nvPr/>
        </p:nvSpPr>
        <p:spPr>
          <a:xfrm>
            <a:off x="411479" y="3054096"/>
            <a:ext cx="1737360" cy="694944"/>
          </a:xfrm>
          <a:prstGeom prst="rect">
            <a:avLst/>
          </a:prstGeom>
          <a:noFill/>
        </p:spPr>
        <p:txBody>
          <a:bodyPr wrap="square">
            <a:spAutoFit/>
          </a:bodyPr>
          <a:lstStyle/>
          <a:p>
            <a:pPr algn="l"/>
            <a:r>
              <a:rPr sz="950" b="0" i="0">
                <a:solidFill>
                  <a:srgbClr val="ABA59F"/>
                </a:solidFill>
                <a:latin typeface="Calibri"/>
              </a:rPr>
              <a:t>Filters, toggles,
map, risk calc,
state compare</a:t>
            </a:r>
          </a:p>
        </p:txBody>
      </p:sp>
      <p:sp>
        <p:nvSpPr>
          <p:cNvPr id="33" name="TextBox 32"/>
          <p:cNvSpPr txBox="1"/>
          <p:nvPr/>
        </p:nvSpPr>
        <p:spPr>
          <a:xfrm>
            <a:off x="2258568" y="3081528"/>
            <a:ext cx="201168" cy="256032"/>
          </a:xfrm>
          <a:prstGeom prst="rect">
            <a:avLst/>
          </a:prstGeom>
          <a:noFill/>
        </p:spPr>
        <p:txBody>
          <a:bodyPr wrap="square">
            <a:spAutoFit/>
          </a:bodyPr>
          <a:lstStyle/>
          <a:p>
            <a:pPr algn="ctr"/>
            <a:r>
              <a:rPr sz="1300" b="0" i="0">
                <a:solidFill>
                  <a:srgbClr val="ABA59F"/>
                </a:solidFill>
                <a:latin typeface="Calibri"/>
              </a:rPr>
              <a:t>→</a:t>
            </a:r>
          </a:p>
        </p:txBody>
      </p:sp>
      <p:sp>
        <p:nvSpPr>
          <p:cNvPr id="34" name="Rectangle 33"/>
          <p:cNvSpPr/>
          <p:nvPr/>
        </p:nvSpPr>
        <p:spPr>
          <a:xfrm>
            <a:off x="2468880" y="2578608"/>
            <a:ext cx="1920240" cy="1234440"/>
          </a:xfrm>
          <a:prstGeom prst="rect">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542032" y="2651760"/>
            <a:ext cx="292608" cy="292608"/>
          </a:xfrm>
          <a:prstGeom prst="rect">
            <a:avLst/>
          </a:prstGeom>
          <a:solidFill>
            <a:srgbClr val="C17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542032" y="2651760"/>
            <a:ext cx="292608" cy="292608"/>
          </a:xfrm>
          <a:prstGeom prst="rect">
            <a:avLst/>
          </a:prstGeom>
          <a:noFill/>
        </p:spPr>
        <p:txBody>
          <a:bodyPr wrap="square">
            <a:spAutoFit/>
          </a:bodyPr>
          <a:lstStyle/>
          <a:p>
            <a:pPr algn="ctr"/>
            <a:r>
              <a:rPr sz="900" b="1" i="0">
                <a:solidFill>
                  <a:srgbClr val="2A2A28"/>
                </a:solidFill>
                <a:latin typeface="Calibri"/>
              </a:rPr>
              <a:t>06</a:t>
            </a:r>
          </a:p>
        </p:txBody>
      </p:sp>
      <p:sp>
        <p:nvSpPr>
          <p:cNvPr id="37" name="TextBox 36"/>
          <p:cNvSpPr txBox="1"/>
          <p:nvPr/>
        </p:nvSpPr>
        <p:spPr>
          <a:xfrm>
            <a:off x="2880360" y="2670048"/>
            <a:ext cx="1417320" cy="320040"/>
          </a:xfrm>
          <a:prstGeom prst="rect">
            <a:avLst/>
          </a:prstGeom>
          <a:noFill/>
        </p:spPr>
        <p:txBody>
          <a:bodyPr wrap="square">
            <a:spAutoFit/>
          </a:bodyPr>
          <a:lstStyle/>
          <a:p>
            <a:pPr algn="l"/>
            <a:r>
              <a:rPr sz="1150" b="0" i="0">
                <a:solidFill>
                  <a:srgbClr val="F7F5F2"/>
                </a:solidFill>
                <a:latin typeface="Georgia"/>
              </a:rPr>
              <a:t>Projections</a:t>
            </a:r>
          </a:p>
        </p:txBody>
      </p:sp>
      <p:sp>
        <p:nvSpPr>
          <p:cNvPr id="38" name="TextBox 37"/>
          <p:cNvSpPr txBox="1"/>
          <p:nvPr/>
        </p:nvSpPr>
        <p:spPr>
          <a:xfrm>
            <a:off x="2560320" y="3054096"/>
            <a:ext cx="1737360" cy="694944"/>
          </a:xfrm>
          <a:prstGeom prst="rect">
            <a:avLst/>
          </a:prstGeom>
          <a:noFill/>
        </p:spPr>
        <p:txBody>
          <a:bodyPr wrap="square">
            <a:spAutoFit/>
          </a:bodyPr>
          <a:lstStyle/>
          <a:p>
            <a:pPr algn="l"/>
            <a:r>
              <a:rPr sz="950" b="0" i="0">
                <a:solidFill>
                  <a:srgbClr val="ABA59F"/>
                </a:solidFill>
                <a:latin typeface="Calibri"/>
              </a:rPr>
              <a:t>Linear regression
+ 95% CI bands
for all groups</a:t>
            </a:r>
          </a:p>
        </p:txBody>
      </p:sp>
      <p:sp>
        <p:nvSpPr>
          <p:cNvPr id="39" name="TextBox 38"/>
          <p:cNvSpPr txBox="1"/>
          <p:nvPr/>
        </p:nvSpPr>
        <p:spPr>
          <a:xfrm>
            <a:off x="4407408" y="3081528"/>
            <a:ext cx="201168" cy="256032"/>
          </a:xfrm>
          <a:prstGeom prst="rect">
            <a:avLst/>
          </a:prstGeom>
          <a:noFill/>
        </p:spPr>
        <p:txBody>
          <a:bodyPr wrap="square">
            <a:spAutoFit/>
          </a:bodyPr>
          <a:lstStyle/>
          <a:p>
            <a:pPr algn="ctr"/>
            <a:r>
              <a:rPr sz="1300" b="0" i="0">
                <a:solidFill>
                  <a:srgbClr val="ABA59F"/>
                </a:solidFill>
                <a:latin typeface="Calibri"/>
              </a:rPr>
              <a:t>→</a:t>
            </a:r>
          </a:p>
        </p:txBody>
      </p:sp>
      <p:sp>
        <p:nvSpPr>
          <p:cNvPr id="40" name="Rectangle 39"/>
          <p:cNvSpPr/>
          <p:nvPr/>
        </p:nvSpPr>
        <p:spPr>
          <a:xfrm>
            <a:off x="4617720" y="2578608"/>
            <a:ext cx="1920240" cy="1234440"/>
          </a:xfrm>
          <a:prstGeom prst="rect">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690872" y="2651760"/>
            <a:ext cx="292608" cy="292608"/>
          </a:xfrm>
          <a:prstGeom prst="rect">
            <a:avLst/>
          </a:prstGeom>
          <a:solidFill>
            <a:srgbClr val="C17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690872" y="2651760"/>
            <a:ext cx="292608" cy="292608"/>
          </a:xfrm>
          <a:prstGeom prst="rect">
            <a:avLst/>
          </a:prstGeom>
          <a:noFill/>
        </p:spPr>
        <p:txBody>
          <a:bodyPr wrap="square">
            <a:spAutoFit/>
          </a:bodyPr>
          <a:lstStyle/>
          <a:p>
            <a:pPr algn="ctr"/>
            <a:r>
              <a:rPr sz="900" b="1" i="0">
                <a:solidFill>
                  <a:srgbClr val="2A2A28"/>
                </a:solidFill>
                <a:latin typeface="Calibri"/>
              </a:rPr>
              <a:t>07</a:t>
            </a:r>
          </a:p>
        </p:txBody>
      </p:sp>
      <p:sp>
        <p:nvSpPr>
          <p:cNvPr id="43" name="TextBox 42"/>
          <p:cNvSpPr txBox="1"/>
          <p:nvPr/>
        </p:nvSpPr>
        <p:spPr>
          <a:xfrm>
            <a:off x="5029200" y="2670048"/>
            <a:ext cx="1417320" cy="320040"/>
          </a:xfrm>
          <a:prstGeom prst="rect">
            <a:avLst/>
          </a:prstGeom>
          <a:noFill/>
        </p:spPr>
        <p:txBody>
          <a:bodyPr wrap="square">
            <a:spAutoFit/>
          </a:bodyPr>
          <a:lstStyle/>
          <a:p>
            <a:pPr algn="l"/>
            <a:r>
              <a:rPr sz="1150" b="0" i="0">
                <a:solidFill>
                  <a:srgbClr val="F7F5F2"/>
                </a:solidFill>
                <a:latin typeface="Georgia"/>
              </a:rPr>
              <a:t>Bug Fixes</a:t>
            </a:r>
          </a:p>
        </p:txBody>
      </p:sp>
      <p:sp>
        <p:nvSpPr>
          <p:cNvPr id="44" name="TextBox 43"/>
          <p:cNvSpPr txBox="1"/>
          <p:nvPr/>
        </p:nvSpPr>
        <p:spPr>
          <a:xfrm>
            <a:off x="4709159" y="3054096"/>
            <a:ext cx="1737360" cy="694944"/>
          </a:xfrm>
          <a:prstGeom prst="rect">
            <a:avLst/>
          </a:prstGeom>
          <a:noFill/>
        </p:spPr>
        <p:txBody>
          <a:bodyPr wrap="square">
            <a:spAutoFit/>
          </a:bodyPr>
          <a:lstStyle/>
          <a:p>
            <a:pPr algn="l"/>
            <a:r>
              <a:rPr sz="950" b="0" i="0">
                <a:solidFill>
                  <a:srgbClr val="ABA59F"/>
                </a:solidFill>
                <a:latin typeface="Calibri"/>
              </a:rPr>
              <a:t>Stage filter,
KPI values,
annotation labels</a:t>
            </a:r>
          </a:p>
        </p:txBody>
      </p:sp>
      <p:sp>
        <p:nvSpPr>
          <p:cNvPr id="45" name="TextBox 44"/>
          <p:cNvSpPr txBox="1"/>
          <p:nvPr/>
        </p:nvSpPr>
        <p:spPr>
          <a:xfrm>
            <a:off x="6556248" y="3081528"/>
            <a:ext cx="201168" cy="256032"/>
          </a:xfrm>
          <a:prstGeom prst="rect">
            <a:avLst/>
          </a:prstGeom>
          <a:noFill/>
        </p:spPr>
        <p:txBody>
          <a:bodyPr wrap="square">
            <a:spAutoFit/>
          </a:bodyPr>
          <a:lstStyle/>
          <a:p>
            <a:pPr algn="ctr"/>
            <a:r>
              <a:rPr sz="1300" b="0" i="0">
                <a:solidFill>
                  <a:srgbClr val="ABA59F"/>
                </a:solidFill>
                <a:latin typeface="Calibri"/>
              </a:rPr>
              <a:t>→</a:t>
            </a:r>
          </a:p>
        </p:txBody>
      </p:sp>
      <p:sp>
        <p:nvSpPr>
          <p:cNvPr id="46" name="Rectangle 45"/>
          <p:cNvSpPr/>
          <p:nvPr/>
        </p:nvSpPr>
        <p:spPr>
          <a:xfrm>
            <a:off x="6766560" y="2578608"/>
            <a:ext cx="1920240" cy="1234440"/>
          </a:xfrm>
          <a:prstGeom prst="rect">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839712" y="2651760"/>
            <a:ext cx="292608" cy="292608"/>
          </a:xfrm>
          <a:prstGeom prst="rect">
            <a:avLst/>
          </a:prstGeom>
          <a:solidFill>
            <a:srgbClr val="C17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839712" y="2651760"/>
            <a:ext cx="292608" cy="292608"/>
          </a:xfrm>
          <a:prstGeom prst="rect">
            <a:avLst/>
          </a:prstGeom>
          <a:noFill/>
        </p:spPr>
        <p:txBody>
          <a:bodyPr wrap="square">
            <a:spAutoFit/>
          </a:bodyPr>
          <a:lstStyle/>
          <a:p>
            <a:pPr algn="ctr"/>
            <a:r>
              <a:rPr sz="900" b="1" i="0">
                <a:solidFill>
                  <a:srgbClr val="2A2A28"/>
                </a:solidFill>
                <a:latin typeface="Calibri"/>
              </a:rPr>
              <a:t>08</a:t>
            </a:r>
          </a:p>
        </p:txBody>
      </p:sp>
      <p:sp>
        <p:nvSpPr>
          <p:cNvPr id="49" name="TextBox 48"/>
          <p:cNvSpPr txBox="1"/>
          <p:nvPr/>
        </p:nvSpPr>
        <p:spPr>
          <a:xfrm>
            <a:off x="7178040" y="2670048"/>
            <a:ext cx="1417320" cy="320040"/>
          </a:xfrm>
          <a:prstGeom prst="rect">
            <a:avLst/>
          </a:prstGeom>
          <a:noFill/>
        </p:spPr>
        <p:txBody>
          <a:bodyPr wrap="square">
            <a:spAutoFit/>
          </a:bodyPr>
          <a:lstStyle/>
          <a:p>
            <a:pPr algn="l"/>
            <a:r>
              <a:rPr sz="1150" b="0" i="0">
                <a:solidFill>
                  <a:srgbClr val="F7F5F2"/>
                </a:solidFill>
                <a:latin typeface="Georgia"/>
              </a:rPr>
              <a:t>Polish &amp; Ship</a:t>
            </a:r>
          </a:p>
        </p:txBody>
      </p:sp>
      <p:sp>
        <p:nvSpPr>
          <p:cNvPr id="50" name="TextBox 49"/>
          <p:cNvSpPr txBox="1"/>
          <p:nvPr/>
        </p:nvSpPr>
        <p:spPr>
          <a:xfrm>
            <a:off x="6858000" y="3054096"/>
            <a:ext cx="1737360" cy="694944"/>
          </a:xfrm>
          <a:prstGeom prst="rect">
            <a:avLst/>
          </a:prstGeom>
          <a:noFill/>
        </p:spPr>
        <p:txBody>
          <a:bodyPr wrap="square">
            <a:spAutoFit/>
          </a:bodyPr>
          <a:lstStyle/>
          <a:p>
            <a:pPr algn="l"/>
            <a:r>
              <a:rPr sz="950" b="0" i="0">
                <a:solidFill>
                  <a:srgbClr val="ABA59F"/>
                </a:solidFill>
                <a:latin typeface="Calibri"/>
              </a:rPr>
              <a:t>Race labels,
axis titles,
GitHub commit</a:t>
            </a:r>
          </a:p>
        </p:txBody>
      </p:sp>
      <p:sp>
        <p:nvSpPr>
          <p:cNvPr id="51" name="Rectangle 50"/>
          <p:cNvSpPr/>
          <p:nvPr/>
        </p:nvSpPr>
        <p:spPr>
          <a:xfrm>
            <a:off x="8430768" y="1664208"/>
            <a:ext cx="45720" cy="914400"/>
          </a:xfrm>
          <a:prstGeom prst="rect">
            <a:avLst/>
          </a:prstGeom>
          <a:solidFill>
            <a:srgbClr val="ABA5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47472" y="2532888"/>
            <a:ext cx="8138160" cy="45720"/>
          </a:xfrm>
          <a:prstGeom prst="rect">
            <a:avLst/>
          </a:prstGeom>
          <a:solidFill>
            <a:srgbClr val="ABA5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47472" y="2395728"/>
            <a:ext cx="228600" cy="274320"/>
          </a:xfrm>
          <a:prstGeom prst="rect">
            <a:avLst/>
          </a:prstGeom>
          <a:noFill/>
        </p:spPr>
        <p:txBody>
          <a:bodyPr wrap="square">
            <a:spAutoFit/>
          </a:bodyPr>
          <a:lstStyle/>
          <a:p>
            <a:pPr algn="ctr"/>
            <a:r>
              <a:rPr sz="1200" b="0" i="0">
                <a:solidFill>
                  <a:srgbClr val="ABA59F"/>
                </a:solidFill>
                <a:latin typeface="Calibri"/>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Rectangle 1"/>
          <p:cNvSpPr/>
          <p:nvPr/>
        </p:nvSpPr>
        <p:spPr>
          <a:xfrm>
            <a:off x="0" y="0"/>
            <a:ext cx="128016" cy="5143500"/>
          </a:xfrm>
          <a:prstGeom prst="rect">
            <a:avLst/>
          </a:prstGeom>
          <a:solidFill>
            <a:srgbClr val="9B8F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56032"/>
            <a:ext cx="8412480" cy="566928"/>
          </a:xfrm>
          <a:prstGeom prst="rect">
            <a:avLst/>
          </a:prstGeom>
          <a:noFill/>
        </p:spPr>
        <p:txBody>
          <a:bodyPr wrap="square">
            <a:spAutoFit/>
          </a:bodyPr>
          <a:lstStyle/>
          <a:p>
            <a:pPr algn="l"/>
            <a:r>
              <a:rPr sz="3000" b="0" i="0">
                <a:solidFill>
                  <a:srgbClr val="2C2C2C"/>
                </a:solidFill>
                <a:latin typeface="Georgia"/>
              </a:rPr>
              <a:t>Key Code: Fault-Tolerant CDN Loader</a:t>
            </a:r>
          </a:p>
        </p:txBody>
      </p:sp>
      <p:sp>
        <p:nvSpPr>
          <p:cNvPr id="4" name="Rectangle 3"/>
          <p:cNvSpPr/>
          <p:nvPr/>
        </p:nvSpPr>
        <p:spPr>
          <a:xfrm>
            <a:off x="365760" y="896112"/>
            <a:ext cx="8412480" cy="27432"/>
          </a:xfrm>
          <a:prstGeom prst="rect">
            <a:avLst/>
          </a:prstGeom>
          <a:solidFill>
            <a:srgbClr val="9B8F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1005840"/>
            <a:ext cx="5212080" cy="379476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78992"/>
            <a:ext cx="5029200" cy="201168"/>
          </a:xfrm>
          <a:prstGeom prst="rect">
            <a:avLst/>
          </a:prstGeom>
          <a:noFill/>
        </p:spPr>
        <p:txBody>
          <a:bodyPr wrap="square">
            <a:spAutoFit/>
          </a:bodyPr>
          <a:lstStyle/>
          <a:p>
            <a:pPr algn="l"/>
            <a:r>
              <a:rPr sz="900" b="0" i="0">
                <a:solidFill>
                  <a:srgbClr val="D4D4D4"/>
                </a:solidFill>
                <a:latin typeface="Courier New"/>
              </a:rPr>
              <a:t>var CDNS = [</a:t>
            </a:r>
          </a:p>
        </p:txBody>
      </p:sp>
      <p:sp>
        <p:nvSpPr>
          <p:cNvPr id="7" name="TextBox 6"/>
          <p:cNvSpPr txBox="1"/>
          <p:nvPr/>
        </p:nvSpPr>
        <p:spPr>
          <a:xfrm>
            <a:off x="411480" y="1271016"/>
            <a:ext cx="5029200" cy="201168"/>
          </a:xfrm>
          <a:prstGeom prst="rect">
            <a:avLst/>
          </a:prstGeom>
          <a:noFill/>
        </p:spPr>
        <p:txBody>
          <a:bodyPr wrap="square">
            <a:spAutoFit/>
          </a:bodyPr>
          <a:lstStyle/>
          <a:p>
            <a:pPr algn="l"/>
            <a:r>
              <a:rPr sz="900" b="0" i="0">
                <a:solidFill>
                  <a:srgbClr val="CE9178"/>
                </a:solidFill>
                <a:latin typeface="Courier New"/>
              </a:rPr>
              <a:t>  'https://cdn.plot.ly/plotly-2.26.0.min.js',</a:t>
            </a:r>
          </a:p>
        </p:txBody>
      </p:sp>
      <p:sp>
        <p:nvSpPr>
          <p:cNvPr id="8" name="TextBox 7"/>
          <p:cNvSpPr txBox="1"/>
          <p:nvPr/>
        </p:nvSpPr>
        <p:spPr>
          <a:xfrm>
            <a:off x="411480" y="1463039"/>
            <a:ext cx="5029200" cy="201168"/>
          </a:xfrm>
          <a:prstGeom prst="rect">
            <a:avLst/>
          </a:prstGeom>
          <a:noFill/>
        </p:spPr>
        <p:txBody>
          <a:bodyPr wrap="square">
            <a:spAutoFit/>
          </a:bodyPr>
          <a:lstStyle/>
          <a:p>
            <a:pPr algn="l"/>
            <a:r>
              <a:rPr sz="900" b="0" i="0">
                <a:solidFill>
                  <a:srgbClr val="CE9178"/>
                </a:solidFill>
                <a:latin typeface="Courier New"/>
              </a:rPr>
              <a:t>  'https://cdn.jsdelivr.net/npm/plotly...',</a:t>
            </a:r>
          </a:p>
        </p:txBody>
      </p:sp>
      <p:sp>
        <p:nvSpPr>
          <p:cNvPr id="9" name="TextBox 8"/>
          <p:cNvSpPr txBox="1"/>
          <p:nvPr/>
        </p:nvSpPr>
        <p:spPr>
          <a:xfrm>
            <a:off x="411480" y="1655064"/>
            <a:ext cx="5029200" cy="201168"/>
          </a:xfrm>
          <a:prstGeom prst="rect">
            <a:avLst/>
          </a:prstGeom>
          <a:noFill/>
        </p:spPr>
        <p:txBody>
          <a:bodyPr wrap="square">
            <a:spAutoFit/>
          </a:bodyPr>
          <a:lstStyle/>
          <a:p>
            <a:pPr algn="l"/>
            <a:r>
              <a:rPr sz="900" b="0" i="0">
                <a:solidFill>
                  <a:srgbClr val="CE9178"/>
                </a:solidFill>
                <a:latin typeface="Courier New"/>
              </a:rPr>
              <a:t>  'https://unpkg.com/plotly.js-dist-min...'</a:t>
            </a:r>
          </a:p>
        </p:txBody>
      </p:sp>
      <p:sp>
        <p:nvSpPr>
          <p:cNvPr id="10" name="TextBox 9"/>
          <p:cNvSpPr txBox="1"/>
          <p:nvPr/>
        </p:nvSpPr>
        <p:spPr>
          <a:xfrm>
            <a:off x="411480" y="1847088"/>
            <a:ext cx="5029200" cy="201168"/>
          </a:xfrm>
          <a:prstGeom prst="rect">
            <a:avLst/>
          </a:prstGeom>
          <a:noFill/>
        </p:spPr>
        <p:txBody>
          <a:bodyPr wrap="square">
            <a:spAutoFit/>
          </a:bodyPr>
          <a:lstStyle/>
          <a:p>
            <a:pPr algn="l"/>
            <a:r>
              <a:rPr sz="900" b="0" i="0">
                <a:solidFill>
                  <a:srgbClr val="D4D4D4"/>
                </a:solidFill>
                <a:latin typeface="Courier New"/>
              </a:rPr>
              <a:t>];</a:t>
            </a:r>
          </a:p>
        </p:txBody>
      </p:sp>
      <p:sp>
        <p:nvSpPr>
          <p:cNvPr id="11" name="TextBox 10"/>
          <p:cNvSpPr txBox="1"/>
          <p:nvPr/>
        </p:nvSpPr>
        <p:spPr>
          <a:xfrm>
            <a:off x="411480" y="2231136"/>
            <a:ext cx="5029200" cy="201168"/>
          </a:xfrm>
          <a:prstGeom prst="rect">
            <a:avLst/>
          </a:prstGeom>
          <a:noFill/>
        </p:spPr>
        <p:txBody>
          <a:bodyPr wrap="square">
            <a:spAutoFit/>
          </a:bodyPr>
          <a:lstStyle/>
          <a:p>
            <a:pPr algn="l"/>
            <a:r>
              <a:rPr sz="900" b="0" i="0">
                <a:solidFill>
                  <a:srgbClr val="DCDCAA"/>
                </a:solidFill>
                <a:latin typeface="Courier New"/>
              </a:rPr>
              <a:t>window.onPlotlyReady = function(fn) {</a:t>
            </a:r>
          </a:p>
        </p:txBody>
      </p:sp>
      <p:sp>
        <p:nvSpPr>
          <p:cNvPr id="12" name="TextBox 11"/>
          <p:cNvSpPr txBox="1"/>
          <p:nvPr/>
        </p:nvSpPr>
        <p:spPr>
          <a:xfrm>
            <a:off x="411480" y="2423160"/>
            <a:ext cx="5029200" cy="201168"/>
          </a:xfrm>
          <a:prstGeom prst="rect">
            <a:avLst/>
          </a:prstGeom>
          <a:noFill/>
        </p:spPr>
        <p:txBody>
          <a:bodyPr wrap="square">
            <a:spAutoFit/>
          </a:bodyPr>
          <a:lstStyle/>
          <a:p>
            <a:pPr algn="l"/>
            <a:r>
              <a:rPr sz="900" b="0" i="0">
                <a:solidFill>
                  <a:srgbClr val="D4D4D4"/>
                </a:solidFill>
                <a:latin typeface="Courier New"/>
              </a:rPr>
              <a:t>  if (window.Plotly) { fn(); }</a:t>
            </a:r>
          </a:p>
        </p:txBody>
      </p:sp>
      <p:sp>
        <p:nvSpPr>
          <p:cNvPr id="13" name="TextBox 12"/>
          <p:cNvSpPr txBox="1"/>
          <p:nvPr/>
        </p:nvSpPr>
        <p:spPr>
          <a:xfrm>
            <a:off x="411480" y="2615184"/>
            <a:ext cx="5029200" cy="201168"/>
          </a:xfrm>
          <a:prstGeom prst="rect">
            <a:avLst/>
          </a:prstGeom>
          <a:noFill/>
        </p:spPr>
        <p:txBody>
          <a:bodyPr wrap="square">
            <a:spAutoFit/>
          </a:bodyPr>
          <a:lstStyle/>
          <a:p>
            <a:pPr algn="l"/>
            <a:r>
              <a:rPr sz="900" b="0" i="0">
                <a:solidFill>
                  <a:srgbClr val="D4D4D4"/>
                </a:solidFill>
                <a:latin typeface="Courier New"/>
              </a:rPr>
              <a:t>  else { _queue.push(fn); }</a:t>
            </a:r>
          </a:p>
        </p:txBody>
      </p:sp>
      <p:sp>
        <p:nvSpPr>
          <p:cNvPr id="14" name="TextBox 13"/>
          <p:cNvSpPr txBox="1"/>
          <p:nvPr/>
        </p:nvSpPr>
        <p:spPr>
          <a:xfrm>
            <a:off x="411480" y="2807208"/>
            <a:ext cx="5029200" cy="201168"/>
          </a:xfrm>
          <a:prstGeom prst="rect">
            <a:avLst/>
          </a:prstGeom>
          <a:noFill/>
        </p:spPr>
        <p:txBody>
          <a:bodyPr wrap="square">
            <a:spAutoFit/>
          </a:bodyPr>
          <a:lstStyle/>
          <a:p>
            <a:pPr algn="l"/>
            <a:r>
              <a:rPr sz="900" b="0" i="0">
                <a:solidFill>
                  <a:srgbClr val="DCDCAA"/>
                </a:solidFill>
                <a:latin typeface="Courier New"/>
              </a:rPr>
              <a:t>};</a:t>
            </a:r>
          </a:p>
        </p:txBody>
      </p:sp>
      <p:sp>
        <p:nvSpPr>
          <p:cNvPr id="15" name="TextBox 14"/>
          <p:cNvSpPr txBox="1"/>
          <p:nvPr/>
        </p:nvSpPr>
        <p:spPr>
          <a:xfrm>
            <a:off x="411480" y="3191256"/>
            <a:ext cx="5029200" cy="201168"/>
          </a:xfrm>
          <a:prstGeom prst="rect">
            <a:avLst/>
          </a:prstGeom>
          <a:noFill/>
        </p:spPr>
        <p:txBody>
          <a:bodyPr wrap="square">
            <a:spAutoFit/>
          </a:bodyPr>
          <a:lstStyle/>
          <a:p>
            <a:pPr algn="l"/>
            <a:r>
              <a:rPr sz="900" b="0" i="0">
                <a:solidFill>
                  <a:srgbClr val="DCDCAA"/>
                </a:solidFill>
                <a:latin typeface="Courier New"/>
              </a:rPr>
              <a:t>function tryLoad(i) {</a:t>
            </a:r>
          </a:p>
        </p:txBody>
      </p:sp>
      <p:sp>
        <p:nvSpPr>
          <p:cNvPr id="16" name="TextBox 15"/>
          <p:cNvSpPr txBox="1"/>
          <p:nvPr/>
        </p:nvSpPr>
        <p:spPr>
          <a:xfrm>
            <a:off x="411480" y="3383280"/>
            <a:ext cx="5029200" cy="201168"/>
          </a:xfrm>
          <a:prstGeom prst="rect">
            <a:avLst/>
          </a:prstGeom>
          <a:noFill/>
        </p:spPr>
        <p:txBody>
          <a:bodyPr wrap="square">
            <a:spAutoFit/>
          </a:bodyPr>
          <a:lstStyle/>
          <a:p>
            <a:pPr algn="l"/>
            <a:r>
              <a:rPr sz="900" b="0" i="0">
                <a:solidFill>
                  <a:srgbClr val="D4D4D4"/>
                </a:solidFill>
                <a:latin typeface="Courier New"/>
              </a:rPr>
              <a:t>  if (i &gt;= CDNS.length) return;</a:t>
            </a:r>
          </a:p>
        </p:txBody>
      </p:sp>
      <p:sp>
        <p:nvSpPr>
          <p:cNvPr id="17" name="TextBox 16"/>
          <p:cNvSpPr txBox="1"/>
          <p:nvPr/>
        </p:nvSpPr>
        <p:spPr>
          <a:xfrm>
            <a:off x="411480" y="3575304"/>
            <a:ext cx="5029200" cy="201168"/>
          </a:xfrm>
          <a:prstGeom prst="rect">
            <a:avLst/>
          </a:prstGeom>
          <a:noFill/>
        </p:spPr>
        <p:txBody>
          <a:bodyPr wrap="square">
            <a:spAutoFit/>
          </a:bodyPr>
          <a:lstStyle/>
          <a:p>
            <a:pPr algn="l"/>
            <a:r>
              <a:rPr sz="900" b="0" i="0">
                <a:solidFill>
                  <a:srgbClr val="D4D4D4"/>
                </a:solidFill>
                <a:latin typeface="Courier New"/>
              </a:rPr>
              <a:t>  var s = document.createElement('script');</a:t>
            </a:r>
          </a:p>
        </p:txBody>
      </p:sp>
      <p:sp>
        <p:nvSpPr>
          <p:cNvPr id="18" name="TextBox 17"/>
          <p:cNvSpPr txBox="1"/>
          <p:nvPr/>
        </p:nvSpPr>
        <p:spPr>
          <a:xfrm>
            <a:off x="411480" y="3767328"/>
            <a:ext cx="5029200" cy="201168"/>
          </a:xfrm>
          <a:prstGeom prst="rect">
            <a:avLst/>
          </a:prstGeom>
          <a:noFill/>
        </p:spPr>
        <p:txBody>
          <a:bodyPr wrap="square">
            <a:spAutoFit/>
          </a:bodyPr>
          <a:lstStyle/>
          <a:p>
            <a:pPr algn="l"/>
            <a:r>
              <a:rPr sz="900" b="0" i="0">
                <a:solidFill>
                  <a:srgbClr val="D4D4D4"/>
                </a:solidFill>
                <a:latin typeface="Courier New"/>
              </a:rPr>
              <a:t>  s.src     = CDNS[i];</a:t>
            </a:r>
          </a:p>
        </p:txBody>
      </p:sp>
      <p:sp>
        <p:nvSpPr>
          <p:cNvPr id="19" name="TextBox 18"/>
          <p:cNvSpPr txBox="1"/>
          <p:nvPr/>
        </p:nvSpPr>
        <p:spPr>
          <a:xfrm>
            <a:off x="411480" y="3959352"/>
            <a:ext cx="5029200" cy="201168"/>
          </a:xfrm>
          <a:prstGeom prst="rect">
            <a:avLst/>
          </a:prstGeom>
          <a:noFill/>
        </p:spPr>
        <p:txBody>
          <a:bodyPr wrap="square">
            <a:spAutoFit/>
          </a:bodyPr>
          <a:lstStyle/>
          <a:p>
            <a:pPr algn="l"/>
            <a:r>
              <a:rPr sz="900" b="0" i="0">
                <a:solidFill>
                  <a:srgbClr val="D4D4D4"/>
                </a:solidFill>
                <a:latin typeface="Courier New"/>
              </a:rPr>
              <a:t>  s.onload  = () =&gt; drainQueue();</a:t>
            </a:r>
          </a:p>
        </p:txBody>
      </p:sp>
      <p:sp>
        <p:nvSpPr>
          <p:cNvPr id="20" name="TextBox 19"/>
          <p:cNvSpPr txBox="1"/>
          <p:nvPr/>
        </p:nvSpPr>
        <p:spPr>
          <a:xfrm>
            <a:off x="411480" y="4151376"/>
            <a:ext cx="5029200" cy="201168"/>
          </a:xfrm>
          <a:prstGeom prst="rect">
            <a:avLst/>
          </a:prstGeom>
          <a:noFill/>
        </p:spPr>
        <p:txBody>
          <a:bodyPr wrap="square">
            <a:spAutoFit/>
          </a:bodyPr>
          <a:lstStyle/>
          <a:p>
            <a:pPr algn="l"/>
            <a:r>
              <a:rPr sz="900" b="0" i="0">
                <a:solidFill>
                  <a:srgbClr val="6A9955"/>
                </a:solidFill>
                <a:latin typeface="Courier New"/>
              </a:rPr>
              <a:t>  s.onerror = () =&gt; tryLoad(i + 1); // retry</a:t>
            </a:r>
          </a:p>
        </p:txBody>
      </p:sp>
      <p:sp>
        <p:nvSpPr>
          <p:cNvPr id="21" name="TextBox 20"/>
          <p:cNvSpPr txBox="1"/>
          <p:nvPr/>
        </p:nvSpPr>
        <p:spPr>
          <a:xfrm>
            <a:off x="411480" y="4343400"/>
            <a:ext cx="5029200" cy="201168"/>
          </a:xfrm>
          <a:prstGeom prst="rect">
            <a:avLst/>
          </a:prstGeom>
          <a:noFill/>
        </p:spPr>
        <p:txBody>
          <a:bodyPr wrap="square">
            <a:spAutoFit/>
          </a:bodyPr>
          <a:lstStyle/>
          <a:p>
            <a:pPr algn="l"/>
            <a:r>
              <a:rPr sz="900" b="0" i="0">
                <a:solidFill>
                  <a:srgbClr val="D4D4D4"/>
                </a:solidFill>
                <a:latin typeface="Courier New"/>
              </a:rPr>
              <a:t>  document.head.appendChild(s);</a:t>
            </a:r>
          </a:p>
        </p:txBody>
      </p:sp>
      <p:sp>
        <p:nvSpPr>
          <p:cNvPr id="22" name="TextBox 21"/>
          <p:cNvSpPr txBox="1"/>
          <p:nvPr/>
        </p:nvSpPr>
        <p:spPr>
          <a:xfrm>
            <a:off x="411480" y="4535424"/>
            <a:ext cx="5029200" cy="201168"/>
          </a:xfrm>
          <a:prstGeom prst="rect">
            <a:avLst/>
          </a:prstGeom>
          <a:noFill/>
        </p:spPr>
        <p:txBody>
          <a:bodyPr wrap="square">
            <a:spAutoFit/>
          </a:bodyPr>
          <a:lstStyle/>
          <a:p>
            <a:pPr algn="l"/>
            <a:r>
              <a:rPr sz="900" b="0" i="0">
                <a:solidFill>
                  <a:srgbClr val="DCDCAA"/>
                </a:solidFill>
                <a:latin typeface="Courier New"/>
              </a:rPr>
              <a:t>}</a:t>
            </a:r>
          </a:p>
        </p:txBody>
      </p:sp>
      <p:sp>
        <p:nvSpPr>
          <p:cNvPr id="23" name="Rectangle 22"/>
          <p:cNvSpPr/>
          <p:nvPr/>
        </p:nvSpPr>
        <p:spPr>
          <a:xfrm>
            <a:off x="5669280" y="1005840"/>
            <a:ext cx="3154680" cy="1143000"/>
          </a:xfrm>
          <a:prstGeom prst="rect">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0" y="1005840"/>
            <a:ext cx="64008" cy="1143000"/>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06440" y="1097280"/>
            <a:ext cx="2926080" cy="320040"/>
          </a:xfrm>
          <a:prstGeom prst="rect">
            <a:avLst/>
          </a:prstGeom>
          <a:noFill/>
        </p:spPr>
        <p:txBody>
          <a:bodyPr wrap="square">
            <a:spAutoFit/>
          </a:bodyPr>
          <a:lstStyle/>
          <a:p>
            <a:pPr algn="l"/>
            <a:r>
              <a:rPr sz="1200" b="0" i="0">
                <a:solidFill>
                  <a:srgbClr val="F7F5F2"/>
                </a:solidFill>
                <a:latin typeface="Georgia"/>
              </a:rPr>
              <a:t>Why 3 CDNs?</a:t>
            </a:r>
          </a:p>
        </p:txBody>
      </p:sp>
      <p:sp>
        <p:nvSpPr>
          <p:cNvPr id="26" name="TextBox 25"/>
          <p:cNvSpPr txBox="1"/>
          <p:nvPr/>
        </p:nvSpPr>
        <p:spPr>
          <a:xfrm>
            <a:off x="5806440" y="1444752"/>
            <a:ext cx="2926080" cy="640080"/>
          </a:xfrm>
          <a:prstGeom prst="rect">
            <a:avLst/>
          </a:prstGeom>
          <a:noFill/>
        </p:spPr>
        <p:txBody>
          <a:bodyPr wrap="square">
            <a:spAutoFit/>
          </a:bodyPr>
          <a:lstStyle/>
          <a:p>
            <a:pPr algn="l"/>
            <a:r>
              <a:rPr sz="1050" b="0" i="0">
                <a:solidFill>
                  <a:srgbClr val="ABA59F"/>
                </a:solidFill>
                <a:latin typeface="Calibri"/>
              </a:rPr>
              <a:t>If cdn.plot.ly is down or blocked, the loader silently falls back to jsDelivr, then unpkg. The dashboard always loads charts.</a:t>
            </a:r>
          </a:p>
        </p:txBody>
      </p:sp>
      <p:sp>
        <p:nvSpPr>
          <p:cNvPr id="27" name="Rectangle 26"/>
          <p:cNvSpPr/>
          <p:nvPr/>
        </p:nvSpPr>
        <p:spPr>
          <a:xfrm>
            <a:off x="5669280" y="2267712"/>
            <a:ext cx="3154680" cy="1143000"/>
          </a:xfrm>
          <a:prstGeom prst="rect">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69280" y="2267712"/>
            <a:ext cx="64008" cy="1143000"/>
          </a:xfrm>
          <a:prstGeom prst="rect">
            <a:avLst/>
          </a:prstGeom>
          <a:solidFill>
            <a:srgbClr val="C17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06440" y="2359152"/>
            <a:ext cx="2926080" cy="320040"/>
          </a:xfrm>
          <a:prstGeom prst="rect">
            <a:avLst/>
          </a:prstGeom>
          <a:noFill/>
        </p:spPr>
        <p:txBody>
          <a:bodyPr wrap="square">
            <a:spAutoFit/>
          </a:bodyPr>
          <a:lstStyle/>
          <a:p>
            <a:pPr algn="l"/>
            <a:r>
              <a:rPr sz="1200" b="0" i="0">
                <a:solidFill>
                  <a:srgbClr val="F7F5F2"/>
                </a:solidFill>
                <a:latin typeface="Georgia"/>
              </a:rPr>
              <a:t>Why a render queue?</a:t>
            </a:r>
          </a:p>
        </p:txBody>
      </p:sp>
      <p:sp>
        <p:nvSpPr>
          <p:cNvPr id="30" name="TextBox 29"/>
          <p:cNvSpPr txBox="1"/>
          <p:nvPr/>
        </p:nvSpPr>
        <p:spPr>
          <a:xfrm>
            <a:off x="5806440" y="2706624"/>
            <a:ext cx="2926080" cy="640080"/>
          </a:xfrm>
          <a:prstGeom prst="rect">
            <a:avLst/>
          </a:prstGeom>
          <a:noFill/>
        </p:spPr>
        <p:txBody>
          <a:bodyPr wrap="square">
            <a:spAutoFit/>
          </a:bodyPr>
          <a:lstStyle/>
          <a:p>
            <a:pPr algn="l"/>
            <a:r>
              <a:rPr sz="1050" b="0" i="0">
                <a:solidFill>
                  <a:srgbClr val="ABA59F"/>
                </a:solidFill>
                <a:latin typeface="Calibri"/>
              </a:rPr>
              <a:t>Chart functions are called before Plotly finishes downloading. The queue holds them and drains automatically once Plotly is ready.</a:t>
            </a:r>
          </a:p>
        </p:txBody>
      </p:sp>
      <p:sp>
        <p:nvSpPr>
          <p:cNvPr id="31" name="Rectangle 30"/>
          <p:cNvSpPr/>
          <p:nvPr/>
        </p:nvSpPr>
        <p:spPr>
          <a:xfrm>
            <a:off x="5669280" y="3529584"/>
            <a:ext cx="3154680" cy="1143000"/>
          </a:xfrm>
          <a:prstGeom prst="rect">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0" y="3529584"/>
            <a:ext cx="64008" cy="1143000"/>
          </a:xfrm>
          <a:prstGeom prst="rect">
            <a:avLst/>
          </a:prstGeom>
          <a:solidFill>
            <a:srgbClr val="9B8F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806440" y="3621024"/>
            <a:ext cx="2926080" cy="320040"/>
          </a:xfrm>
          <a:prstGeom prst="rect">
            <a:avLst/>
          </a:prstGeom>
          <a:noFill/>
        </p:spPr>
        <p:txBody>
          <a:bodyPr wrap="square">
            <a:spAutoFit/>
          </a:bodyPr>
          <a:lstStyle/>
          <a:p>
            <a:pPr algn="l"/>
            <a:r>
              <a:rPr sz="1200" b="0" i="0">
                <a:solidFill>
                  <a:srgbClr val="F7F5F2"/>
                </a:solidFill>
                <a:latin typeface="Georgia"/>
              </a:rPr>
              <a:t>Why async? Why not &lt;script&gt;?</a:t>
            </a:r>
          </a:p>
        </p:txBody>
      </p:sp>
      <p:sp>
        <p:nvSpPr>
          <p:cNvPr id="34" name="TextBox 33"/>
          <p:cNvSpPr txBox="1"/>
          <p:nvPr/>
        </p:nvSpPr>
        <p:spPr>
          <a:xfrm>
            <a:off x="5806440" y="3968496"/>
            <a:ext cx="2926080" cy="640080"/>
          </a:xfrm>
          <a:prstGeom prst="rect">
            <a:avLst/>
          </a:prstGeom>
          <a:noFill/>
        </p:spPr>
        <p:txBody>
          <a:bodyPr wrap="square">
            <a:spAutoFit/>
          </a:bodyPr>
          <a:lstStyle/>
          <a:p>
            <a:pPr algn="l"/>
            <a:r>
              <a:rPr sz="1050" b="0" i="0">
                <a:solidFill>
                  <a:srgbClr val="ABA59F"/>
                </a:solidFill>
                <a:latin typeface="Calibri"/>
              </a:rPr>
              <a:t>Synchronous script tags block the entire page from rendering. The async pattern lets the HTML and CSS paint immediately, then charts fill 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Rectangle 1"/>
          <p:cNvSpPr/>
          <p:nvPr/>
        </p:nvSpPr>
        <p:spPr>
          <a:xfrm>
            <a:off x="0" y="0"/>
            <a:ext cx="128016" cy="5143500"/>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56032"/>
            <a:ext cx="8412480" cy="566928"/>
          </a:xfrm>
          <a:prstGeom prst="rect">
            <a:avLst/>
          </a:prstGeom>
          <a:noFill/>
        </p:spPr>
        <p:txBody>
          <a:bodyPr wrap="square">
            <a:spAutoFit/>
          </a:bodyPr>
          <a:lstStyle/>
          <a:p>
            <a:pPr algn="l"/>
            <a:r>
              <a:rPr sz="3000" b="0" i="0">
                <a:solidFill>
                  <a:srgbClr val="2C2C2C"/>
                </a:solidFill>
                <a:latin typeface="Georgia"/>
              </a:rPr>
              <a:t>Key Code: Projection Engine  —  OLS Regression</a:t>
            </a:r>
          </a:p>
        </p:txBody>
      </p:sp>
      <p:sp>
        <p:nvSpPr>
          <p:cNvPr id="4" name="Rectangle 3"/>
          <p:cNvSpPr/>
          <p:nvPr/>
        </p:nvSpPr>
        <p:spPr>
          <a:xfrm>
            <a:off x="365760" y="896112"/>
            <a:ext cx="8412480" cy="27432"/>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1005840"/>
            <a:ext cx="4937760" cy="32918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78992"/>
            <a:ext cx="4754880" cy="201168"/>
          </a:xfrm>
          <a:prstGeom prst="rect">
            <a:avLst/>
          </a:prstGeom>
          <a:noFill/>
        </p:spPr>
        <p:txBody>
          <a:bodyPr wrap="square">
            <a:spAutoFit/>
          </a:bodyPr>
          <a:lstStyle/>
          <a:p>
            <a:pPr algn="l"/>
            <a:r>
              <a:rPr sz="850" b="0" i="0">
                <a:solidFill>
                  <a:srgbClr val="DCDCAA"/>
                </a:solidFill>
                <a:latin typeface="Courier New"/>
              </a:rPr>
              <a:t>function linearRegression(xArr, yArr) {</a:t>
            </a:r>
          </a:p>
        </p:txBody>
      </p:sp>
      <p:sp>
        <p:nvSpPr>
          <p:cNvPr id="7" name="TextBox 6"/>
          <p:cNvSpPr txBox="1"/>
          <p:nvPr/>
        </p:nvSpPr>
        <p:spPr>
          <a:xfrm>
            <a:off x="411480" y="1257300"/>
            <a:ext cx="4754880" cy="201168"/>
          </a:xfrm>
          <a:prstGeom prst="rect">
            <a:avLst/>
          </a:prstGeom>
          <a:noFill/>
        </p:spPr>
        <p:txBody>
          <a:bodyPr wrap="square">
            <a:spAutoFit/>
          </a:bodyPr>
          <a:lstStyle/>
          <a:p>
            <a:pPr algn="l"/>
            <a:r>
              <a:rPr sz="850" b="0" i="0">
                <a:solidFill>
                  <a:srgbClr val="D4D4D4"/>
                </a:solidFill>
                <a:latin typeface="Courier New"/>
              </a:rPr>
              <a:t>  const n     = xArr.length;</a:t>
            </a:r>
          </a:p>
        </p:txBody>
      </p:sp>
      <p:sp>
        <p:nvSpPr>
          <p:cNvPr id="8" name="TextBox 7"/>
          <p:cNvSpPr txBox="1"/>
          <p:nvPr/>
        </p:nvSpPr>
        <p:spPr>
          <a:xfrm>
            <a:off x="411480" y="1435607"/>
            <a:ext cx="4754880" cy="201168"/>
          </a:xfrm>
          <a:prstGeom prst="rect">
            <a:avLst/>
          </a:prstGeom>
          <a:noFill/>
        </p:spPr>
        <p:txBody>
          <a:bodyPr wrap="square">
            <a:spAutoFit/>
          </a:bodyPr>
          <a:lstStyle/>
          <a:p>
            <a:pPr algn="l"/>
            <a:r>
              <a:rPr sz="850" b="0" i="0">
                <a:solidFill>
                  <a:srgbClr val="D4D4D4"/>
                </a:solidFill>
                <a:latin typeface="Courier New"/>
              </a:rPr>
              <a:t>  const sumX  = xArr.reduce((a,b) =&gt; a+b, 0);</a:t>
            </a:r>
          </a:p>
        </p:txBody>
      </p:sp>
      <p:sp>
        <p:nvSpPr>
          <p:cNvPr id="9" name="TextBox 8"/>
          <p:cNvSpPr txBox="1"/>
          <p:nvPr/>
        </p:nvSpPr>
        <p:spPr>
          <a:xfrm>
            <a:off x="411480" y="1613916"/>
            <a:ext cx="4754880" cy="201168"/>
          </a:xfrm>
          <a:prstGeom prst="rect">
            <a:avLst/>
          </a:prstGeom>
          <a:noFill/>
        </p:spPr>
        <p:txBody>
          <a:bodyPr wrap="square">
            <a:spAutoFit/>
          </a:bodyPr>
          <a:lstStyle/>
          <a:p>
            <a:pPr algn="l"/>
            <a:r>
              <a:rPr sz="850" b="0" i="0">
                <a:solidFill>
                  <a:srgbClr val="D4D4D4"/>
                </a:solidFill>
                <a:latin typeface="Courier New"/>
              </a:rPr>
              <a:t>  const sumY  = yArr.reduce((a,b) =&gt; a+b, 0);</a:t>
            </a:r>
          </a:p>
        </p:txBody>
      </p:sp>
      <p:sp>
        <p:nvSpPr>
          <p:cNvPr id="10" name="TextBox 9"/>
          <p:cNvSpPr txBox="1"/>
          <p:nvPr/>
        </p:nvSpPr>
        <p:spPr>
          <a:xfrm>
            <a:off x="411480" y="1792224"/>
            <a:ext cx="4754880" cy="201168"/>
          </a:xfrm>
          <a:prstGeom prst="rect">
            <a:avLst/>
          </a:prstGeom>
          <a:noFill/>
        </p:spPr>
        <p:txBody>
          <a:bodyPr wrap="square">
            <a:spAutoFit/>
          </a:bodyPr>
          <a:lstStyle/>
          <a:p>
            <a:pPr algn="l"/>
            <a:r>
              <a:rPr sz="850" b="0" i="0">
                <a:solidFill>
                  <a:srgbClr val="D4D4D4"/>
                </a:solidFill>
                <a:latin typeface="Courier New"/>
              </a:rPr>
              <a:t>  const sumXY = xArr.reduce(</a:t>
            </a:r>
          </a:p>
        </p:txBody>
      </p:sp>
      <p:sp>
        <p:nvSpPr>
          <p:cNvPr id="11" name="TextBox 10"/>
          <p:cNvSpPr txBox="1"/>
          <p:nvPr/>
        </p:nvSpPr>
        <p:spPr>
          <a:xfrm>
            <a:off x="411480" y="1970532"/>
            <a:ext cx="4754880" cy="201168"/>
          </a:xfrm>
          <a:prstGeom prst="rect">
            <a:avLst/>
          </a:prstGeom>
          <a:noFill/>
        </p:spPr>
        <p:txBody>
          <a:bodyPr wrap="square">
            <a:spAutoFit/>
          </a:bodyPr>
          <a:lstStyle/>
          <a:p>
            <a:pPr algn="l"/>
            <a:r>
              <a:rPr sz="850" b="0" i="0">
                <a:solidFill>
                  <a:srgbClr val="D4D4D4"/>
                </a:solidFill>
                <a:latin typeface="Courier New"/>
              </a:rPr>
              <a:t>    (s,x,i) =&gt; s + x*yArr[i], 0);</a:t>
            </a:r>
          </a:p>
        </p:txBody>
      </p:sp>
      <p:sp>
        <p:nvSpPr>
          <p:cNvPr id="12" name="TextBox 11"/>
          <p:cNvSpPr txBox="1"/>
          <p:nvPr/>
        </p:nvSpPr>
        <p:spPr>
          <a:xfrm>
            <a:off x="411480" y="2148839"/>
            <a:ext cx="4754880" cy="201168"/>
          </a:xfrm>
          <a:prstGeom prst="rect">
            <a:avLst/>
          </a:prstGeom>
          <a:noFill/>
        </p:spPr>
        <p:txBody>
          <a:bodyPr wrap="square">
            <a:spAutoFit/>
          </a:bodyPr>
          <a:lstStyle/>
          <a:p>
            <a:pPr algn="l"/>
            <a:r>
              <a:rPr sz="850" b="0" i="0">
                <a:solidFill>
                  <a:srgbClr val="D4D4D4"/>
                </a:solidFill>
                <a:latin typeface="Courier New"/>
              </a:rPr>
              <a:t>  const sumX2 = xArr.reduce((s,x) =&gt; s+x*x, 0);</a:t>
            </a:r>
          </a:p>
        </p:txBody>
      </p:sp>
      <p:sp>
        <p:nvSpPr>
          <p:cNvPr id="13" name="TextBox 12"/>
          <p:cNvSpPr txBox="1"/>
          <p:nvPr/>
        </p:nvSpPr>
        <p:spPr>
          <a:xfrm>
            <a:off x="411480" y="2327148"/>
            <a:ext cx="4754880" cy="201168"/>
          </a:xfrm>
          <a:prstGeom prst="rect">
            <a:avLst/>
          </a:prstGeom>
          <a:noFill/>
        </p:spPr>
        <p:txBody>
          <a:bodyPr wrap="square">
            <a:spAutoFit/>
          </a:bodyPr>
          <a:lstStyle/>
          <a:p>
            <a:pPr algn="l"/>
            <a:r>
              <a:rPr sz="850" b="0" i="0">
                <a:solidFill>
                  <a:srgbClr val="6A9955"/>
                </a:solidFill>
                <a:latin typeface="Courier New"/>
              </a:rPr>
              <a:t>  // Ordinary Least Squares slope &amp; intercept</a:t>
            </a:r>
          </a:p>
        </p:txBody>
      </p:sp>
      <p:sp>
        <p:nvSpPr>
          <p:cNvPr id="14" name="TextBox 13"/>
          <p:cNvSpPr txBox="1"/>
          <p:nvPr/>
        </p:nvSpPr>
        <p:spPr>
          <a:xfrm>
            <a:off x="411480" y="2505456"/>
            <a:ext cx="4754880" cy="201168"/>
          </a:xfrm>
          <a:prstGeom prst="rect">
            <a:avLst/>
          </a:prstGeom>
          <a:noFill/>
        </p:spPr>
        <p:txBody>
          <a:bodyPr wrap="square">
            <a:spAutoFit/>
          </a:bodyPr>
          <a:lstStyle/>
          <a:p>
            <a:pPr algn="l"/>
            <a:r>
              <a:rPr sz="850" b="0" i="0">
                <a:solidFill>
                  <a:srgbClr val="9CDCFE"/>
                </a:solidFill>
                <a:latin typeface="Courier New"/>
              </a:rPr>
              <a:t>  const slope = (n*sumXY - sumX*sumY) /</a:t>
            </a:r>
          </a:p>
        </p:txBody>
      </p:sp>
      <p:sp>
        <p:nvSpPr>
          <p:cNvPr id="15" name="TextBox 14"/>
          <p:cNvSpPr txBox="1"/>
          <p:nvPr/>
        </p:nvSpPr>
        <p:spPr>
          <a:xfrm>
            <a:off x="411480" y="2683764"/>
            <a:ext cx="4754880" cy="201168"/>
          </a:xfrm>
          <a:prstGeom prst="rect">
            <a:avLst/>
          </a:prstGeom>
          <a:noFill/>
        </p:spPr>
        <p:txBody>
          <a:bodyPr wrap="square">
            <a:spAutoFit/>
          </a:bodyPr>
          <a:lstStyle/>
          <a:p>
            <a:pPr algn="l"/>
            <a:r>
              <a:rPr sz="850" b="0" i="0">
                <a:solidFill>
                  <a:srgbClr val="9CDCFE"/>
                </a:solidFill>
                <a:latin typeface="Courier New"/>
              </a:rPr>
              <a:t>                (n*sumX2 - sumX*sumX);</a:t>
            </a:r>
          </a:p>
        </p:txBody>
      </p:sp>
      <p:sp>
        <p:nvSpPr>
          <p:cNvPr id="16" name="TextBox 15"/>
          <p:cNvSpPr txBox="1"/>
          <p:nvPr/>
        </p:nvSpPr>
        <p:spPr>
          <a:xfrm>
            <a:off x="411480" y="2862072"/>
            <a:ext cx="4754880" cy="201168"/>
          </a:xfrm>
          <a:prstGeom prst="rect">
            <a:avLst/>
          </a:prstGeom>
          <a:noFill/>
        </p:spPr>
        <p:txBody>
          <a:bodyPr wrap="square">
            <a:spAutoFit/>
          </a:bodyPr>
          <a:lstStyle/>
          <a:p>
            <a:pPr algn="l"/>
            <a:r>
              <a:rPr sz="850" b="0" i="0">
                <a:solidFill>
                  <a:srgbClr val="9CDCFE"/>
                </a:solidFill>
                <a:latin typeface="Courier New"/>
              </a:rPr>
              <a:t>  const intercept = (sumY - slope*sumX) / n;</a:t>
            </a:r>
          </a:p>
        </p:txBody>
      </p:sp>
      <p:sp>
        <p:nvSpPr>
          <p:cNvPr id="17" name="TextBox 16"/>
          <p:cNvSpPr txBox="1"/>
          <p:nvPr/>
        </p:nvSpPr>
        <p:spPr>
          <a:xfrm>
            <a:off x="411480" y="3040380"/>
            <a:ext cx="4754880" cy="201168"/>
          </a:xfrm>
          <a:prstGeom prst="rect">
            <a:avLst/>
          </a:prstGeom>
          <a:noFill/>
        </p:spPr>
        <p:txBody>
          <a:bodyPr wrap="square">
            <a:spAutoFit/>
          </a:bodyPr>
          <a:lstStyle/>
          <a:p>
            <a:pPr algn="l"/>
            <a:r>
              <a:rPr sz="850" b="0" i="0">
                <a:solidFill>
                  <a:srgbClr val="6A9955"/>
                </a:solidFill>
                <a:latin typeface="Courier New"/>
              </a:rPr>
              <a:t>  // Standard error → 95% CI bands</a:t>
            </a:r>
          </a:p>
        </p:txBody>
      </p:sp>
      <p:sp>
        <p:nvSpPr>
          <p:cNvPr id="18" name="TextBox 17"/>
          <p:cNvSpPr txBox="1"/>
          <p:nvPr/>
        </p:nvSpPr>
        <p:spPr>
          <a:xfrm>
            <a:off x="411480" y="3218687"/>
            <a:ext cx="4754880" cy="201168"/>
          </a:xfrm>
          <a:prstGeom prst="rect">
            <a:avLst/>
          </a:prstGeom>
          <a:noFill/>
        </p:spPr>
        <p:txBody>
          <a:bodyPr wrap="square">
            <a:spAutoFit/>
          </a:bodyPr>
          <a:lstStyle/>
          <a:p>
            <a:pPr algn="l"/>
            <a:r>
              <a:rPr sz="850" b="0" i="0">
                <a:solidFill>
                  <a:srgbClr val="D4D4D4"/>
                </a:solidFill>
                <a:latin typeface="Courier New"/>
              </a:rPr>
              <a:t>  const residuals = yArr.map((y,i) =&gt;</a:t>
            </a:r>
          </a:p>
        </p:txBody>
      </p:sp>
      <p:sp>
        <p:nvSpPr>
          <p:cNvPr id="19" name="TextBox 18"/>
          <p:cNvSpPr txBox="1"/>
          <p:nvPr/>
        </p:nvSpPr>
        <p:spPr>
          <a:xfrm>
            <a:off x="411480" y="3396996"/>
            <a:ext cx="4754880" cy="201168"/>
          </a:xfrm>
          <a:prstGeom prst="rect">
            <a:avLst/>
          </a:prstGeom>
          <a:noFill/>
        </p:spPr>
        <p:txBody>
          <a:bodyPr wrap="square">
            <a:spAutoFit/>
          </a:bodyPr>
          <a:lstStyle/>
          <a:p>
            <a:pPr algn="l"/>
            <a:r>
              <a:rPr sz="850" b="0" i="0">
                <a:solidFill>
                  <a:srgbClr val="D4D4D4"/>
                </a:solidFill>
                <a:latin typeface="Courier New"/>
              </a:rPr>
              <a:t>    y - (slope*xArr[i] + intercept));</a:t>
            </a:r>
          </a:p>
        </p:txBody>
      </p:sp>
      <p:sp>
        <p:nvSpPr>
          <p:cNvPr id="20" name="TextBox 19"/>
          <p:cNvSpPr txBox="1"/>
          <p:nvPr/>
        </p:nvSpPr>
        <p:spPr>
          <a:xfrm>
            <a:off x="411480" y="3575304"/>
            <a:ext cx="4754880" cy="201168"/>
          </a:xfrm>
          <a:prstGeom prst="rect">
            <a:avLst/>
          </a:prstGeom>
          <a:noFill/>
        </p:spPr>
        <p:txBody>
          <a:bodyPr wrap="square">
            <a:spAutoFit/>
          </a:bodyPr>
          <a:lstStyle/>
          <a:p>
            <a:pPr algn="l"/>
            <a:r>
              <a:rPr sz="850" b="0" i="0">
                <a:solidFill>
                  <a:srgbClr val="D4D4D4"/>
                </a:solidFill>
                <a:latin typeface="Courier New"/>
              </a:rPr>
              <a:t>  const se = Math.sqrt(residuals.reduce(</a:t>
            </a:r>
          </a:p>
        </p:txBody>
      </p:sp>
      <p:sp>
        <p:nvSpPr>
          <p:cNvPr id="21" name="TextBox 20"/>
          <p:cNvSpPr txBox="1"/>
          <p:nvPr/>
        </p:nvSpPr>
        <p:spPr>
          <a:xfrm>
            <a:off x="411480" y="3753612"/>
            <a:ext cx="4754880" cy="201168"/>
          </a:xfrm>
          <a:prstGeom prst="rect">
            <a:avLst/>
          </a:prstGeom>
          <a:noFill/>
        </p:spPr>
        <p:txBody>
          <a:bodyPr wrap="square">
            <a:spAutoFit/>
          </a:bodyPr>
          <a:lstStyle/>
          <a:p>
            <a:pPr algn="l"/>
            <a:r>
              <a:rPr sz="850" b="0" i="0">
                <a:solidFill>
                  <a:srgbClr val="D4D4D4"/>
                </a:solidFill>
                <a:latin typeface="Courier New"/>
              </a:rPr>
              <a:t>    (s,r) =&gt; s+r*r, 0) / (n - 2));</a:t>
            </a:r>
          </a:p>
        </p:txBody>
      </p:sp>
      <p:sp>
        <p:nvSpPr>
          <p:cNvPr id="22" name="TextBox 21"/>
          <p:cNvSpPr txBox="1"/>
          <p:nvPr/>
        </p:nvSpPr>
        <p:spPr>
          <a:xfrm>
            <a:off x="411480" y="3931920"/>
            <a:ext cx="4754880" cy="201168"/>
          </a:xfrm>
          <a:prstGeom prst="rect">
            <a:avLst/>
          </a:prstGeom>
          <a:noFill/>
        </p:spPr>
        <p:txBody>
          <a:bodyPr wrap="square">
            <a:spAutoFit/>
          </a:bodyPr>
          <a:lstStyle/>
          <a:p>
            <a:pPr algn="l"/>
            <a:r>
              <a:rPr sz="850" b="0" i="0">
                <a:solidFill>
                  <a:srgbClr val="D4D4D4"/>
                </a:solidFill>
                <a:latin typeface="Courier New"/>
              </a:rPr>
              <a:t>  return { slope, intercept, se };</a:t>
            </a:r>
          </a:p>
        </p:txBody>
      </p:sp>
      <p:sp>
        <p:nvSpPr>
          <p:cNvPr id="23" name="TextBox 22"/>
          <p:cNvSpPr txBox="1"/>
          <p:nvPr/>
        </p:nvSpPr>
        <p:spPr>
          <a:xfrm>
            <a:off x="411480" y="4110228"/>
            <a:ext cx="4754880" cy="201168"/>
          </a:xfrm>
          <a:prstGeom prst="rect">
            <a:avLst/>
          </a:prstGeom>
          <a:noFill/>
        </p:spPr>
        <p:txBody>
          <a:bodyPr wrap="square">
            <a:spAutoFit/>
          </a:bodyPr>
          <a:lstStyle/>
          <a:p>
            <a:pPr algn="l"/>
            <a:r>
              <a:rPr sz="850" b="0" i="0">
                <a:solidFill>
                  <a:srgbClr val="DCDCAA"/>
                </a:solidFill>
                <a:latin typeface="Courier New"/>
              </a:rPr>
              <a:t>}</a:t>
            </a:r>
          </a:p>
        </p:txBody>
      </p:sp>
      <p:sp>
        <p:nvSpPr>
          <p:cNvPr id="24" name="TextBox 23"/>
          <p:cNvSpPr txBox="1"/>
          <p:nvPr/>
        </p:nvSpPr>
        <p:spPr>
          <a:xfrm>
            <a:off x="5440680" y="1005840"/>
            <a:ext cx="3429000" cy="365760"/>
          </a:xfrm>
          <a:prstGeom prst="rect">
            <a:avLst/>
          </a:prstGeom>
          <a:noFill/>
        </p:spPr>
        <p:txBody>
          <a:bodyPr wrap="square">
            <a:spAutoFit/>
          </a:bodyPr>
          <a:lstStyle/>
          <a:p>
            <a:pPr algn="l"/>
            <a:r>
              <a:rPr sz="1500" b="0" i="0">
                <a:solidFill>
                  <a:srgbClr val="2C2C2C"/>
                </a:solidFill>
                <a:latin typeface="Georgia"/>
              </a:rPr>
              <a:t>The Math Behind It</a:t>
            </a:r>
          </a:p>
        </p:txBody>
      </p:sp>
      <p:sp>
        <p:nvSpPr>
          <p:cNvPr id="25" name="Rectangle 24"/>
          <p:cNvSpPr/>
          <p:nvPr/>
        </p:nvSpPr>
        <p:spPr>
          <a:xfrm>
            <a:off x="5440680" y="1417320"/>
            <a:ext cx="3429000" cy="27432"/>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40680" y="1508760"/>
            <a:ext cx="54864" cy="868680"/>
          </a:xfrm>
          <a:prstGeom prst="rect">
            <a:avLst/>
          </a:prstGeom>
          <a:solidFill>
            <a:srgbClr val="C17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559552" y="1536192"/>
            <a:ext cx="3246120" cy="292608"/>
          </a:xfrm>
          <a:prstGeom prst="rect">
            <a:avLst/>
          </a:prstGeom>
          <a:noFill/>
        </p:spPr>
        <p:txBody>
          <a:bodyPr wrap="square">
            <a:spAutoFit/>
          </a:bodyPr>
          <a:lstStyle/>
          <a:p>
            <a:pPr algn="l"/>
            <a:r>
              <a:rPr sz="1150" b="0" i="0">
                <a:solidFill>
                  <a:srgbClr val="C17F5C"/>
                </a:solidFill>
                <a:latin typeface="Georgia"/>
              </a:rPr>
              <a:t>Ordinary Least Squares (OLS)</a:t>
            </a:r>
          </a:p>
        </p:txBody>
      </p:sp>
      <p:sp>
        <p:nvSpPr>
          <p:cNvPr id="28" name="TextBox 27"/>
          <p:cNvSpPr txBox="1"/>
          <p:nvPr/>
        </p:nvSpPr>
        <p:spPr>
          <a:xfrm>
            <a:off x="5559552" y="1856231"/>
            <a:ext cx="3246120" cy="502920"/>
          </a:xfrm>
          <a:prstGeom prst="rect">
            <a:avLst/>
          </a:prstGeom>
          <a:noFill/>
        </p:spPr>
        <p:txBody>
          <a:bodyPr wrap="square">
            <a:spAutoFit/>
          </a:bodyPr>
          <a:lstStyle/>
          <a:p>
            <a:pPr algn="l"/>
            <a:r>
              <a:rPr sz="1000" b="0" i="0">
                <a:solidFill>
                  <a:srgbClr val="2C2C2C"/>
                </a:solidFill>
                <a:latin typeface="Calibri"/>
              </a:rPr>
              <a:t>Finds the slope (β₁) and intercept (β₀) that minimize
the sum of squared residuals across training years.</a:t>
            </a:r>
          </a:p>
        </p:txBody>
      </p:sp>
      <p:sp>
        <p:nvSpPr>
          <p:cNvPr id="29" name="Rectangle 28"/>
          <p:cNvSpPr/>
          <p:nvPr/>
        </p:nvSpPr>
        <p:spPr>
          <a:xfrm>
            <a:off x="5440680" y="2468880"/>
            <a:ext cx="54864" cy="868680"/>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559552" y="2496312"/>
            <a:ext cx="3246120" cy="292608"/>
          </a:xfrm>
          <a:prstGeom prst="rect">
            <a:avLst/>
          </a:prstGeom>
          <a:noFill/>
        </p:spPr>
        <p:txBody>
          <a:bodyPr wrap="square">
            <a:spAutoFit/>
          </a:bodyPr>
          <a:lstStyle/>
          <a:p>
            <a:pPr algn="l"/>
            <a:r>
              <a:rPr sz="1150" b="0" i="0">
                <a:solidFill>
                  <a:srgbClr val="8A9A8B"/>
                </a:solidFill>
                <a:latin typeface="Georgia"/>
              </a:rPr>
              <a:t>95% Confidence Interval</a:t>
            </a:r>
          </a:p>
        </p:txBody>
      </p:sp>
      <p:sp>
        <p:nvSpPr>
          <p:cNvPr id="31" name="TextBox 30"/>
          <p:cNvSpPr txBox="1"/>
          <p:nvPr/>
        </p:nvSpPr>
        <p:spPr>
          <a:xfrm>
            <a:off x="5559552" y="2816352"/>
            <a:ext cx="3246120" cy="502920"/>
          </a:xfrm>
          <a:prstGeom prst="rect">
            <a:avLst/>
          </a:prstGeom>
          <a:noFill/>
        </p:spPr>
        <p:txBody>
          <a:bodyPr wrap="square">
            <a:spAutoFit/>
          </a:bodyPr>
          <a:lstStyle/>
          <a:p>
            <a:pPr algn="l"/>
            <a:r>
              <a:rPr sz="1000" b="0" i="0">
                <a:solidFill>
                  <a:srgbClr val="2C2C2C"/>
                </a:solidFill>
                <a:latin typeface="Calibri"/>
              </a:rPr>
              <a:t>Upper band = ŷ + 1.96×SE
Lower band = ŷ − 1.96×SE
SE = std. error with (n−2) degrees of freedom.</a:t>
            </a:r>
          </a:p>
        </p:txBody>
      </p:sp>
      <p:sp>
        <p:nvSpPr>
          <p:cNvPr id="32" name="Rectangle 31"/>
          <p:cNvSpPr/>
          <p:nvPr/>
        </p:nvSpPr>
        <p:spPr>
          <a:xfrm>
            <a:off x="5440680" y="3429000"/>
            <a:ext cx="54864" cy="868680"/>
          </a:xfrm>
          <a:prstGeom prst="rect">
            <a:avLst/>
          </a:prstGeom>
          <a:solidFill>
            <a:srgbClr val="9B8F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559552" y="3456432"/>
            <a:ext cx="3246120" cy="292608"/>
          </a:xfrm>
          <a:prstGeom prst="rect">
            <a:avLst/>
          </a:prstGeom>
          <a:noFill/>
        </p:spPr>
        <p:txBody>
          <a:bodyPr wrap="square">
            <a:spAutoFit/>
          </a:bodyPr>
          <a:lstStyle/>
          <a:p>
            <a:pPr algn="l"/>
            <a:r>
              <a:rPr sz="1150" b="0" i="0">
                <a:solidFill>
                  <a:srgbClr val="9B8FAC"/>
                </a:solidFill>
                <a:latin typeface="Georgia"/>
              </a:rPr>
              <a:t>Training Windows</a:t>
            </a:r>
          </a:p>
        </p:txBody>
      </p:sp>
      <p:sp>
        <p:nvSpPr>
          <p:cNvPr id="34" name="TextBox 33"/>
          <p:cNvSpPr txBox="1"/>
          <p:nvPr/>
        </p:nvSpPr>
        <p:spPr>
          <a:xfrm>
            <a:off x="5559552" y="3776472"/>
            <a:ext cx="3246120" cy="502920"/>
          </a:xfrm>
          <a:prstGeom prst="rect">
            <a:avLst/>
          </a:prstGeom>
          <a:noFill/>
        </p:spPr>
        <p:txBody>
          <a:bodyPr wrap="square">
            <a:spAutoFit/>
          </a:bodyPr>
          <a:lstStyle/>
          <a:p>
            <a:pPr algn="l"/>
            <a:r>
              <a:rPr sz="1000" b="0" i="0">
                <a:solidFill>
                  <a:srgbClr val="2C2C2C"/>
                </a:solidFill>
                <a:latin typeface="Calibri"/>
              </a:rPr>
              <a:t>Overall trends: last 8 observed years.
Race projections: last 5 data points per group.
Projection horizon: 2023–2030.</a:t>
            </a:r>
          </a:p>
        </p:txBody>
      </p:sp>
      <p:sp>
        <p:nvSpPr>
          <p:cNvPr id="35" name="Rectangle 34"/>
          <p:cNvSpPr/>
          <p:nvPr/>
        </p:nvSpPr>
        <p:spPr>
          <a:xfrm>
            <a:off x="320040" y="4407408"/>
            <a:ext cx="8503920" cy="45720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20040" y="4407408"/>
            <a:ext cx="54864" cy="457200"/>
          </a:xfrm>
          <a:prstGeom prst="rect">
            <a:avLst/>
          </a:prstGeom>
          <a:solidFill>
            <a:srgbClr val="C4A8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4453128"/>
            <a:ext cx="8321040" cy="365760"/>
          </a:xfrm>
          <a:prstGeom prst="rect">
            <a:avLst/>
          </a:prstGeom>
          <a:noFill/>
        </p:spPr>
        <p:txBody>
          <a:bodyPr wrap="square">
            <a:spAutoFit/>
          </a:bodyPr>
          <a:lstStyle/>
          <a:p>
            <a:pPr algn="l"/>
            <a:r>
              <a:rPr sz="1000" b="0" i="0">
                <a:solidFill>
                  <a:srgbClr val="8B5E00"/>
                </a:solidFill>
                <a:latin typeface="Calibri"/>
              </a:rPr>
              <a:t>⚠  Limitation: Linear regression assumes past trends continue linearly. Projections do not account for new screening guidelines, treatment advances, or demographic shifts. Confidence bands widen as projection extends.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A2A28"/>
        </a:solidFill>
        <a:effectLst/>
      </p:bgPr>
    </p:bg>
    <p:spTree>
      <p:nvGrpSpPr>
        <p:cNvPr id="1" name=""/>
        <p:cNvGrpSpPr/>
        <p:nvPr/>
      </p:nvGrpSpPr>
      <p:grpSpPr/>
      <p:sp>
        <p:nvSpPr>
          <p:cNvPr id="2" name="Rectangle 1"/>
          <p:cNvSpPr/>
          <p:nvPr/>
        </p:nvSpPr>
        <p:spPr>
          <a:xfrm>
            <a:off x="0" y="0"/>
            <a:ext cx="128016" cy="5143500"/>
          </a:xfrm>
          <a:prstGeom prst="rect">
            <a:avLst/>
          </a:prstGeom>
          <a:solidFill>
            <a:srgbClr val="C17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05840"/>
            <a:ext cx="8229600" cy="822960"/>
          </a:xfrm>
          <a:prstGeom prst="rect">
            <a:avLst/>
          </a:prstGeom>
          <a:noFill/>
        </p:spPr>
        <p:txBody>
          <a:bodyPr wrap="square">
            <a:spAutoFit/>
          </a:bodyPr>
          <a:lstStyle/>
          <a:p>
            <a:pPr algn="l"/>
            <a:r>
              <a:rPr sz="5800" b="0" i="0">
                <a:solidFill>
                  <a:srgbClr val="F7F5F2"/>
                </a:solidFill>
                <a:latin typeface="Georgia"/>
              </a:rPr>
              <a:t>KEY</a:t>
            </a:r>
          </a:p>
        </p:txBody>
      </p:sp>
      <p:sp>
        <p:nvSpPr>
          <p:cNvPr id="4" name="TextBox 3"/>
          <p:cNvSpPr txBox="1"/>
          <p:nvPr/>
        </p:nvSpPr>
        <p:spPr>
          <a:xfrm>
            <a:off x="365760" y="1783080"/>
            <a:ext cx="8229600" cy="822960"/>
          </a:xfrm>
          <a:prstGeom prst="rect">
            <a:avLst/>
          </a:prstGeom>
          <a:noFill/>
        </p:spPr>
        <p:txBody>
          <a:bodyPr wrap="square">
            <a:spAutoFit/>
          </a:bodyPr>
          <a:lstStyle/>
          <a:p>
            <a:pPr algn="l"/>
            <a:r>
              <a:rPr sz="5800" b="0" i="0">
                <a:solidFill>
                  <a:srgbClr val="C17F5C"/>
                </a:solidFill>
                <a:latin typeface="Georgia"/>
              </a:rPr>
              <a:t>FINDINGS</a:t>
            </a:r>
          </a:p>
        </p:txBody>
      </p:sp>
      <p:sp>
        <p:nvSpPr>
          <p:cNvPr id="5" name="TextBox 4"/>
          <p:cNvSpPr txBox="1"/>
          <p:nvPr/>
        </p:nvSpPr>
        <p:spPr>
          <a:xfrm>
            <a:off x="365760" y="2788920"/>
            <a:ext cx="7772400" cy="411480"/>
          </a:xfrm>
          <a:prstGeom prst="rect">
            <a:avLst/>
          </a:prstGeom>
          <a:noFill/>
        </p:spPr>
        <p:txBody>
          <a:bodyPr wrap="square">
            <a:spAutoFit/>
          </a:bodyPr>
          <a:lstStyle/>
          <a:p>
            <a:pPr algn="l"/>
            <a:r>
              <a:rPr sz="1400" b="0" i="1">
                <a:solidFill>
                  <a:srgbClr val="ABA59F"/>
                </a:solidFill>
                <a:latin typeface="Calibri"/>
              </a:rPr>
              <a:t>What 23 years of SEER data reveals about prostate cancer in the United States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Rectangle 1"/>
          <p:cNvSpPr/>
          <p:nvPr/>
        </p:nvSpPr>
        <p:spPr>
          <a:xfrm>
            <a:off x="0" y="0"/>
            <a:ext cx="128016" cy="5143500"/>
          </a:xfrm>
          <a:prstGeom prst="rect">
            <a:avLst/>
          </a:prstGeom>
          <a:solidFill>
            <a:srgbClr val="C17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56032"/>
            <a:ext cx="8412480" cy="566928"/>
          </a:xfrm>
          <a:prstGeom prst="rect">
            <a:avLst/>
          </a:prstGeom>
          <a:noFill/>
        </p:spPr>
        <p:txBody>
          <a:bodyPr wrap="square">
            <a:spAutoFit/>
          </a:bodyPr>
          <a:lstStyle/>
          <a:p>
            <a:pPr algn="l"/>
            <a:r>
              <a:rPr sz="3000" b="0" i="0">
                <a:solidFill>
                  <a:srgbClr val="2C2C2C"/>
                </a:solidFill>
                <a:latin typeface="Georgia"/>
              </a:rPr>
              <a:t>Finding 1: Screening Policy Drives Incidence</a:t>
            </a:r>
          </a:p>
        </p:txBody>
      </p:sp>
      <p:sp>
        <p:nvSpPr>
          <p:cNvPr id="4" name="Rectangle 3"/>
          <p:cNvSpPr/>
          <p:nvPr/>
        </p:nvSpPr>
        <p:spPr>
          <a:xfrm>
            <a:off x="365760" y="896112"/>
            <a:ext cx="8412480" cy="27432"/>
          </a:xfrm>
          <a:prstGeom prst="rect">
            <a:avLst/>
          </a:prstGeom>
          <a:solidFill>
            <a:srgbClr val="C17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1051560"/>
            <a:ext cx="2761488" cy="3566160"/>
          </a:xfrm>
          <a:prstGeom prst="rect">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51560"/>
            <a:ext cx="2761488" cy="73152"/>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170432"/>
            <a:ext cx="2514600" cy="347472"/>
          </a:xfrm>
          <a:prstGeom prst="rect">
            <a:avLst/>
          </a:prstGeom>
          <a:noFill/>
        </p:spPr>
        <p:txBody>
          <a:bodyPr wrap="square">
            <a:spAutoFit/>
          </a:bodyPr>
          <a:lstStyle/>
          <a:p>
            <a:pPr algn="l"/>
            <a:r>
              <a:rPr sz="2200" b="0" i="0">
                <a:solidFill>
                  <a:srgbClr val="8A9A8B"/>
                </a:solidFill>
                <a:latin typeface="Georgia"/>
              </a:rPr>
              <a:t>2000–2012</a:t>
            </a:r>
          </a:p>
        </p:txBody>
      </p:sp>
      <p:sp>
        <p:nvSpPr>
          <p:cNvPr id="8" name="TextBox 7"/>
          <p:cNvSpPr txBox="1"/>
          <p:nvPr/>
        </p:nvSpPr>
        <p:spPr>
          <a:xfrm>
            <a:off x="457200" y="1554480"/>
            <a:ext cx="2514600" cy="457200"/>
          </a:xfrm>
          <a:prstGeom prst="rect">
            <a:avLst/>
          </a:prstGeom>
          <a:noFill/>
        </p:spPr>
        <p:txBody>
          <a:bodyPr wrap="square">
            <a:spAutoFit/>
          </a:bodyPr>
          <a:lstStyle/>
          <a:p>
            <a:pPr algn="l"/>
            <a:r>
              <a:rPr sz="1300" b="0" i="0">
                <a:solidFill>
                  <a:srgbClr val="F7F5F2"/>
                </a:solidFill>
                <a:latin typeface="Georgia"/>
              </a:rPr>
              <a:t>Peak &amp; Decline</a:t>
            </a:r>
          </a:p>
        </p:txBody>
      </p:sp>
      <p:sp>
        <p:nvSpPr>
          <p:cNvPr id="9" name="Rectangle 8"/>
          <p:cNvSpPr/>
          <p:nvPr/>
        </p:nvSpPr>
        <p:spPr>
          <a:xfrm>
            <a:off x="457200" y="2066543"/>
            <a:ext cx="2487168" cy="27432"/>
          </a:xfrm>
          <a:prstGeom prst="rect">
            <a:avLst/>
          </a:prstGeom>
          <a:solidFill>
            <a:srgbClr val="464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148840"/>
            <a:ext cx="2514600" cy="2331720"/>
          </a:xfrm>
          <a:prstGeom prst="rect">
            <a:avLst/>
          </a:prstGeom>
          <a:noFill/>
        </p:spPr>
        <p:txBody>
          <a:bodyPr wrap="square">
            <a:spAutoFit/>
          </a:bodyPr>
          <a:lstStyle/>
          <a:p>
            <a:pPr algn="l"/>
            <a:r>
              <a:rPr sz="1050" b="0" i="0">
                <a:solidFill>
                  <a:srgbClr val="ABA59F"/>
                </a:solidFill>
                <a:latin typeface="Calibri"/>
              </a:rPr>
              <a:t>Incidence fell from 175/100K (2000) to 90/100K (2014) — a 48% drop — as routine PSA screening fell out of favor after the 2012 USPSTF recommendation against it.</a:t>
            </a:r>
          </a:p>
        </p:txBody>
      </p:sp>
      <p:sp>
        <p:nvSpPr>
          <p:cNvPr id="11" name="Rectangle 10"/>
          <p:cNvSpPr/>
          <p:nvPr/>
        </p:nvSpPr>
        <p:spPr>
          <a:xfrm>
            <a:off x="3264408" y="1051560"/>
            <a:ext cx="2761488" cy="3566160"/>
          </a:xfrm>
          <a:prstGeom prst="rect">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64408" y="1051560"/>
            <a:ext cx="2761488" cy="73152"/>
          </a:xfrm>
          <a:prstGeom prst="rect">
            <a:avLst/>
          </a:prstGeom>
          <a:solidFill>
            <a:srgbClr val="C4A8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01568" y="1170432"/>
            <a:ext cx="2514600" cy="347472"/>
          </a:xfrm>
          <a:prstGeom prst="rect">
            <a:avLst/>
          </a:prstGeom>
          <a:noFill/>
        </p:spPr>
        <p:txBody>
          <a:bodyPr wrap="square">
            <a:spAutoFit/>
          </a:bodyPr>
          <a:lstStyle/>
          <a:p>
            <a:pPr algn="l"/>
            <a:r>
              <a:rPr sz="2200" b="0" i="0">
                <a:solidFill>
                  <a:srgbClr val="C4A882"/>
                </a:solidFill>
                <a:latin typeface="Georgia"/>
              </a:rPr>
              <a:t>2018</a:t>
            </a:r>
          </a:p>
        </p:txBody>
      </p:sp>
      <p:sp>
        <p:nvSpPr>
          <p:cNvPr id="14" name="TextBox 13"/>
          <p:cNvSpPr txBox="1"/>
          <p:nvPr/>
        </p:nvSpPr>
        <p:spPr>
          <a:xfrm>
            <a:off x="3401568" y="1554480"/>
            <a:ext cx="2514600" cy="457200"/>
          </a:xfrm>
          <a:prstGeom prst="rect">
            <a:avLst/>
          </a:prstGeom>
          <a:noFill/>
        </p:spPr>
        <p:txBody>
          <a:bodyPr wrap="square">
            <a:spAutoFit/>
          </a:bodyPr>
          <a:lstStyle/>
          <a:p>
            <a:pPr algn="l"/>
            <a:r>
              <a:rPr sz="1300" b="0" i="0">
                <a:solidFill>
                  <a:srgbClr val="F7F5F2"/>
                </a:solidFill>
                <a:latin typeface="Georgia"/>
              </a:rPr>
              <a:t>Partial Restoration</a:t>
            </a:r>
          </a:p>
        </p:txBody>
      </p:sp>
      <p:sp>
        <p:nvSpPr>
          <p:cNvPr id="15" name="Rectangle 14"/>
          <p:cNvSpPr/>
          <p:nvPr/>
        </p:nvSpPr>
        <p:spPr>
          <a:xfrm>
            <a:off x="3401568" y="2066543"/>
            <a:ext cx="2487168" cy="27432"/>
          </a:xfrm>
          <a:prstGeom prst="rect">
            <a:avLst/>
          </a:prstGeom>
          <a:solidFill>
            <a:srgbClr val="464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01568" y="2148840"/>
            <a:ext cx="2514600" cy="2331720"/>
          </a:xfrm>
          <a:prstGeom prst="rect">
            <a:avLst/>
          </a:prstGeom>
          <a:noFill/>
        </p:spPr>
        <p:txBody>
          <a:bodyPr wrap="square">
            <a:spAutoFit/>
          </a:bodyPr>
          <a:lstStyle/>
          <a:p>
            <a:pPr algn="l"/>
            <a:r>
              <a:rPr sz="1050" b="0" i="0">
                <a:solidFill>
                  <a:srgbClr val="ABA59F"/>
                </a:solidFill>
                <a:latin typeface="Calibri"/>
              </a:rPr>
              <a:t>Rates began rising after the 2018 update recommending shared decision-making for men aged 55–69. Localized-stage cases recovered as PSA testing resumed.</a:t>
            </a:r>
          </a:p>
        </p:txBody>
      </p:sp>
      <p:sp>
        <p:nvSpPr>
          <p:cNvPr id="17" name="Rectangle 16"/>
          <p:cNvSpPr/>
          <p:nvPr/>
        </p:nvSpPr>
        <p:spPr>
          <a:xfrm>
            <a:off x="6208776" y="1051560"/>
            <a:ext cx="2761488" cy="3566160"/>
          </a:xfrm>
          <a:prstGeom prst="rect">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08776" y="1051560"/>
            <a:ext cx="2761488" cy="73152"/>
          </a:xfrm>
          <a:prstGeom prst="rect">
            <a:avLst/>
          </a:prstGeom>
          <a:solidFill>
            <a:srgbClr val="C17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45936" y="1170432"/>
            <a:ext cx="2514600" cy="347472"/>
          </a:xfrm>
          <a:prstGeom prst="rect">
            <a:avLst/>
          </a:prstGeom>
          <a:noFill/>
        </p:spPr>
        <p:txBody>
          <a:bodyPr wrap="square">
            <a:spAutoFit/>
          </a:bodyPr>
          <a:lstStyle/>
          <a:p>
            <a:pPr algn="l"/>
            <a:r>
              <a:rPr sz="2200" b="0" i="0">
                <a:solidFill>
                  <a:srgbClr val="C17F5C"/>
                </a:solidFill>
                <a:latin typeface="Georgia"/>
              </a:rPr>
              <a:t>2008–2022</a:t>
            </a:r>
          </a:p>
        </p:txBody>
      </p:sp>
      <p:sp>
        <p:nvSpPr>
          <p:cNvPr id="20" name="TextBox 19"/>
          <p:cNvSpPr txBox="1"/>
          <p:nvPr/>
        </p:nvSpPr>
        <p:spPr>
          <a:xfrm>
            <a:off x="6345936" y="1554480"/>
            <a:ext cx="2514600" cy="457200"/>
          </a:xfrm>
          <a:prstGeom prst="rect">
            <a:avLst/>
          </a:prstGeom>
          <a:noFill/>
        </p:spPr>
        <p:txBody>
          <a:bodyPr wrap="square">
            <a:spAutoFit/>
          </a:bodyPr>
          <a:lstStyle/>
          <a:p>
            <a:pPr algn="l"/>
            <a:r>
              <a:rPr sz="1300" b="0" i="0">
                <a:solidFill>
                  <a:srgbClr val="F7F5F2"/>
                </a:solidFill>
                <a:latin typeface="Georgia"/>
              </a:rPr>
              <a:t>Distant Stage Up +50%</a:t>
            </a:r>
          </a:p>
        </p:txBody>
      </p:sp>
      <p:sp>
        <p:nvSpPr>
          <p:cNvPr id="21" name="Rectangle 20"/>
          <p:cNvSpPr/>
          <p:nvPr/>
        </p:nvSpPr>
        <p:spPr>
          <a:xfrm>
            <a:off x="6345936" y="2066543"/>
            <a:ext cx="2487168" cy="27432"/>
          </a:xfrm>
          <a:prstGeom prst="rect">
            <a:avLst/>
          </a:prstGeom>
          <a:solidFill>
            <a:srgbClr val="464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2148840"/>
            <a:ext cx="2514600" cy="2331720"/>
          </a:xfrm>
          <a:prstGeom prst="rect">
            <a:avLst/>
          </a:prstGeom>
          <a:noFill/>
        </p:spPr>
        <p:txBody>
          <a:bodyPr wrap="square">
            <a:spAutoFit/>
          </a:bodyPr>
          <a:lstStyle/>
          <a:p>
            <a:pPr algn="l"/>
            <a:r>
              <a:rPr sz="1050" b="0" i="0">
                <a:solidFill>
                  <a:srgbClr val="ABA59F"/>
                </a:solidFill>
                <a:latin typeface="Calibri"/>
              </a:rPr>
              <a:t>The most alarming trend: metastatic diagnoses at presentation rose steadily — from 8.4 to 12.6 per 100K — a likely consequence of reduced early screening.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Rectangle 1"/>
          <p:cNvSpPr/>
          <p:nvPr/>
        </p:nvSpPr>
        <p:spPr>
          <a:xfrm>
            <a:off x="0" y="0"/>
            <a:ext cx="128016" cy="5143500"/>
          </a:xfrm>
          <a:prstGeom prst="rect">
            <a:avLst/>
          </a:prstGeom>
          <a:solidFill>
            <a:srgbClr val="9B8F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56032"/>
            <a:ext cx="8412480" cy="566928"/>
          </a:xfrm>
          <a:prstGeom prst="rect">
            <a:avLst/>
          </a:prstGeom>
          <a:noFill/>
        </p:spPr>
        <p:txBody>
          <a:bodyPr wrap="square">
            <a:spAutoFit/>
          </a:bodyPr>
          <a:lstStyle/>
          <a:p>
            <a:pPr algn="l"/>
            <a:r>
              <a:rPr sz="3000" b="0" i="0">
                <a:solidFill>
                  <a:srgbClr val="2C2C2C"/>
                </a:solidFill>
                <a:latin typeface="Georgia"/>
              </a:rPr>
              <a:t>Finding 2: Racial Disparities Are Not Closing</a:t>
            </a:r>
          </a:p>
        </p:txBody>
      </p:sp>
      <p:sp>
        <p:nvSpPr>
          <p:cNvPr id="4" name="Rectangle 3"/>
          <p:cNvSpPr/>
          <p:nvPr/>
        </p:nvSpPr>
        <p:spPr>
          <a:xfrm>
            <a:off x="365760" y="896112"/>
            <a:ext cx="8412480" cy="27432"/>
          </a:xfrm>
          <a:prstGeom prst="rect">
            <a:avLst/>
          </a:prstGeom>
          <a:solidFill>
            <a:srgbClr val="9B8F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320040" y="1005840"/>
          <a:ext cx="8503920" cy="2148840"/>
        </p:xfrm>
        <a:graphic>
          <a:graphicData uri="http://schemas.openxmlformats.org/drawingml/2006/table">
            <a:tbl>
              <a:tblPr firstRow="1" bandRow="1">
                <a:tableStyleId>{5C22544A-7EE6-4342-B048-85BDC9FD1C3A}</a:tableStyleId>
              </a:tblPr>
              <a:tblGrid>
                <a:gridCol w="2651760"/>
                <a:gridCol w="1737360"/>
                <a:gridCol w="1737360"/>
                <a:gridCol w="2377440"/>
              </a:tblGrid>
              <a:tr h="429768">
                <a:tc>
                  <a:txBody>
                    <a:bodyPr wrap="square"/>
                    <a:lstStyle/>
                    <a:p>
                      <a:pPr algn="l"/>
                      <a:r>
                        <a:rPr sz="1100" b="1">
                          <a:solidFill>
                            <a:srgbClr val="F7F5F2"/>
                          </a:solidFill>
                          <a:latin typeface="Calibri"/>
                        </a:rPr>
                        <a:t>Race / Ethnicity</a:t>
                      </a:r>
                    </a:p>
                  </a:txBody>
                  <a:tcPr>
                    <a:solidFill>
                      <a:srgbClr val="2A2A28"/>
                    </a:solidFill>
                  </a:tcPr>
                </a:tc>
                <a:tc>
                  <a:txBody>
                    <a:bodyPr wrap="square"/>
                    <a:lstStyle/>
                    <a:p>
                      <a:pPr algn="ctr"/>
                      <a:r>
                        <a:rPr sz="1100" b="1">
                          <a:solidFill>
                            <a:srgbClr val="F7F5F2"/>
                          </a:solidFill>
                          <a:latin typeface="Calibri"/>
                        </a:rPr>
                        <a:t>Incidence /100K</a:t>
                      </a:r>
                    </a:p>
                  </a:txBody>
                  <a:tcPr>
                    <a:solidFill>
                      <a:srgbClr val="2A2A28"/>
                    </a:solidFill>
                  </a:tcPr>
                </a:tc>
                <a:tc>
                  <a:txBody>
                    <a:bodyPr wrap="square"/>
                    <a:lstStyle/>
                    <a:p>
                      <a:pPr algn="ctr"/>
                      <a:r>
                        <a:rPr sz="1100" b="1">
                          <a:solidFill>
                            <a:srgbClr val="F7F5F2"/>
                          </a:solidFill>
                          <a:latin typeface="Calibri"/>
                        </a:rPr>
                        <a:t>Mortality /100K</a:t>
                      </a:r>
                    </a:p>
                  </a:txBody>
                  <a:tcPr>
                    <a:solidFill>
                      <a:srgbClr val="2A2A28"/>
                    </a:solidFill>
                  </a:tcPr>
                </a:tc>
                <a:tc>
                  <a:txBody>
                    <a:bodyPr wrap="square"/>
                    <a:lstStyle/>
                    <a:p>
                      <a:pPr algn="ctr"/>
                      <a:r>
                        <a:rPr sz="1100" b="1">
                          <a:solidFill>
                            <a:srgbClr val="F7F5F2"/>
                          </a:solidFill>
                          <a:latin typeface="Calibri"/>
                        </a:rPr>
                        <a:t>vs. White Men</a:t>
                      </a:r>
                    </a:p>
                  </a:txBody>
                  <a:tcPr>
                    <a:solidFill>
                      <a:srgbClr val="2A2A28"/>
                    </a:solidFill>
                  </a:tcPr>
                </a:tc>
              </a:tr>
              <a:tr h="429768">
                <a:tc>
                  <a:txBody>
                    <a:bodyPr wrap="square"/>
                    <a:lstStyle/>
                    <a:p>
                      <a:pPr algn="l"/>
                      <a:r>
                        <a:rPr sz="1100">
                          <a:solidFill>
                            <a:srgbClr val="2C2C2C"/>
                          </a:solidFill>
                          <a:latin typeface="Calibri"/>
                        </a:rPr>
                        <a:t>Non-Hispanic Black</a:t>
                      </a:r>
                    </a:p>
                  </a:txBody>
                  <a:tcPr>
                    <a:solidFill>
                      <a:srgbClr val="F0EBF5"/>
                    </a:solidFill>
                  </a:tcPr>
                </a:tc>
                <a:tc>
                  <a:txBody>
                    <a:bodyPr wrap="square"/>
                    <a:lstStyle/>
                    <a:p>
                      <a:pPr algn="ctr"/>
                      <a:r>
                        <a:rPr sz="1100" b="1">
                          <a:solidFill>
                            <a:srgbClr val="9B8FAC"/>
                          </a:solidFill>
                          <a:latin typeface="Calibri"/>
                        </a:rPr>
                        <a:t>175.2</a:t>
                      </a:r>
                    </a:p>
                  </a:txBody>
                  <a:tcPr>
                    <a:solidFill>
                      <a:srgbClr val="F0EBF5"/>
                    </a:solidFill>
                  </a:tcPr>
                </a:tc>
                <a:tc>
                  <a:txBody>
                    <a:bodyPr wrap="square"/>
                    <a:lstStyle/>
                    <a:p>
                      <a:pPr algn="ctr"/>
                      <a:r>
                        <a:rPr sz="1100" b="1">
                          <a:solidFill>
                            <a:srgbClr val="9B8FAC"/>
                          </a:solidFill>
                          <a:latin typeface="Calibri"/>
                        </a:rPr>
                        <a:t>37.9</a:t>
                      </a:r>
                    </a:p>
                  </a:txBody>
                  <a:tcPr>
                    <a:solidFill>
                      <a:srgbClr val="F0EBF5"/>
                    </a:solidFill>
                  </a:tcPr>
                </a:tc>
                <a:tc>
                  <a:txBody>
                    <a:bodyPr wrap="square"/>
                    <a:lstStyle/>
                    <a:p>
                      <a:pPr algn="ctr"/>
                      <a:r>
                        <a:rPr sz="1100" b="1">
                          <a:solidFill>
                            <a:srgbClr val="C17F5C"/>
                          </a:solidFill>
                          <a:latin typeface="Calibri"/>
                        </a:rPr>
                        <a:t>+60% incidence · +109% mortality</a:t>
                      </a:r>
                    </a:p>
                  </a:txBody>
                  <a:tcPr>
                    <a:solidFill>
                      <a:srgbClr val="F0EBF5"/>
                    </a:solidFill>
                  </a:tcPr>
                </a:tc>
              </a:tr>
              <a:tr h="429768">
                <a:tc>
                  <a:txBody>
                    <a:bodyPr wrap="square"/>
                    <a:lstStyle/>
                    <a:p>
                      <a:pPr algn="l"/>
                      <a:r>
                        <a:rPr sz="1100">
                          <a:solidFill>
                            <a:srgbClr val="2C2C2C"/>
                          </a:solidFill>
                          <a:latin typeface="Calibri"/>
                        </a:rPr>
                        <a:t>Non-Hispanic White</a:t>
                      </a:r>
                    </a:p>
                  </a:txBody>
                  <a:tcPr>
                    <a:solidFill>
                      <a:srgbClr val="FFFFFF"/>
                    </a:solidFill>
                  </a:tcPr>
                </a:tc>
                <a:tc>
                  <a:txBody>
                    <a:bodyPr wrap="square"/>
                    <a:lstStyle/>
                    <a:p>
                      <a:pPr algn="ctr"/>
                      <a:r>
                        <a:rPr sz="1100">
                          <a:solidFill>
                            <a:srgbClr val="2C2C2C"/>
                          </a:solidFill>
                          <a:latin typeface="Calibri"/>
                        </a:rPr>
                        <a:t>109.3</a:t>
                      </a:r>
                    </a:p>
                  </a:txBody>
                  <a:tcPr>
                    <a:solidFill>
                      <a:srgbClr val="FFFFFF"/>
                    </a:solidFill>
                  </a:tcPr>
                </a:tc>
                <a:tc>
                  <a:txBody>
                    <a:bodyPr wrap="square"/>
                    <a:lstStyle/>
                    <a:p>
                      <a:pPr algn="ctr"/>
                      <a:r>
                        <a:rPr sz="1100">
                          <a:solidFill>
                            <a:srgbClr val="2C2C2C"/>
                          </a:solidFill>
                          <a:latin typeface="Calibri"/>
                        </a:rPr>
                        <a:t>18.1</a:t>
                      </a:r>
                    </a:p>
                  </a:txBody>
                  <a:tcPr>
                    <a:solidFill>
                      <a:srgbClr val="FFFFFF"/>
                    </a:solidFill>
                  </a:tcPr>
                </a:tc>
                <a:tc>
                  <a:txBody>
                    <a:bodyPr wrap="square"/>
                    <a:lstStyle/>
                    <a:p>
                      <a:pPr algn="ctr"/>
                      <a:r>
                        <a:rPr sz="1100">
                          <a:solidFill>
                            <a:srgbClr val="2C2C2C"/>
                          </a:solidFill>
                          <a:latin typeface="Calibri"/>
                        </a:rPr>
                        <a:t>— baseline —</a:t>
                      </a:r>
                    </a:p>
                  </a:txBody>
                  <a:tcPr>
                    <a:solidFill>
                      <a:srgbClr val="FFFFFF"/>
                    </a:solidFill>
                  </a:tcPr>
                </a:tc>
              </a:tr>
              <a:tr h="429768">
                <a:tc>
                  <a:txBody>
                    <a:bodyPr wrap="square"/>
                    <a:lstStyle/>
                    <a:p>
                      <a:pPr algn="l"/>
                      <a:r>
                        <a:rPr sz="1100">
                          <a:solidFill>
                            <a:srgbClr val="2C2C2C"/>
                          </a:solidFill>
                          <a:latin typeface="Calibri"/>
                        </a:rPr>
                        <a:t>Hispanic</a:t>
                      </a:r>
                    </a:p>
                  </a:txBody>
                  <a:tcPr>
                    <a:solidFill>
                      <a:srgbClr val="F7F5F2"/>
                    </a:solidFill>
                  </a:tcPr>
                </a:tc>
                <a:tc>
                  <a:txBody>
                    <a:bodyPr wrap="square"/>
                    <a:lstStyle/>
                    <a:p>
                      <a:pPr algn="ctr"/>
                      <a:r>
                        <a:rPr sz="1100">
                          <a:solidFill>
                            <a:srgbClr val="2C2C2C"/>
                          </a:solidFill>
                          <a:latin typeface="Calibri"/>
                        </a:rPr>
                        <a:t>96.4</a:t>
                      </a:r>
                    </a:p>
                  </a:txBody>
                  <a:tcPr>
                    <a:solidFill>
                      <a:srgbClr val="F7F5F2"/>
                    </a:solidFill>
                  </a:tcPr>
                </a:tc>
                <a:tc>
                  <a:txBody>
                    <a:bodyPr wrap="square"/>
                    <a:lstStyle/>
                    <a:p>
                      <a:pPr algn="ctr"/>
                      <a:r>
                        <a:rPr sz="1100">
                          <a:solidFill>
                            <a:srgbClr val="2C2C2C"/>
                          </a:solidFill>
                          <a:latin typeface="Calibri"/>
                        </a:rPr>
                        <a:t>15.8</a:t>
                      </a:r>
                    </a:p>
                  </a:txBody>
                  <a:tcPr>
                    <a:solidFill>
                      <a:srgbClr val="F7F5F2"/>
                    </a:solidFill>
                  </a:tcPr>
                </a:tc>
                <a:tc>
                  <a:txBody>
                    <a:bodyPr wrap="square"/>
                    <a:lstStyle/>
                    <a:p>
                      <a:pPr algn="ctr"/>
                      <a:r>
                        <a:rPr sz="1100">
                          <a:solidFill>
                            <a:srgbClr val="2C2C2C"/>
                          </a:solidFill>
                          <a:latin typeface="Calibri"/>
                        </a:rPr>
                        <a:t>−12% incidence</a:t>
                      </a:r>
                    </a:p>
                  </a:txBody>
                  <a:tcPr>
                    <a:solidFill>
                      <a:srgbClr val="F7F5F2"/>
                    </a:solidFill>
                  </a:tcPr>
                </a:tc>
              </a:tr>
              <a:tr h="429768">
                <a:tc>
                  <a:txBody>
                    <a:bodyPr wrap="square"/>
                    <a:lstStyle/>
                    <a:p>
                      <a:pPr algn="l"/>
                      <a:r>
                        <a:rPr sz="1100">
                          <a:solidFill>
                            <a:srgbClr val="2C2C2C"/>
                          </a:solidFill>
                          <a:latin typeface="Calibri"/>
                        </a:rPr>
                        <a:t>Asian/Pacific Islander</a:t>
                      </a:r>
                    </a:p>
                  </a:txBody>
                  <a:tcPr>
                    <a:solidFill>
                      <a:srgbClr val="FFFFFF"/>
                    </a:solidFill>
                  </a:tcPr>
                </a:tc>
                <a:tc>
                  <a:txBody>
                    <a:bodyPr wrap="square"/>
                    <a:lstStyle/>
                    <a:p>
                      <a:pPr algn="ctr"/>
                      <a:r>
                        <a:rPr sz="1100">
                          <a:solidFill>
                            <a:srgbClr val="2C2C2C"/>
                          </a:solidFill>
                          <a:latin typeface="Calibri"/>
                        </a:rPr>
                        <a:t>60.3</a:t>
                      </a:r>
                    </a:p>
                  </a:txBody>
                  <a:tcPr>
                    <a:solidFill>
                      <a:srgbClr val="FFFFFF"/>
                    </a:solidFill>
                  </a:tcPr>
                </a:tc>
                <a:tc>
                  <a:txBody>
                    <a:bodyPr wrap="square"/>
                    <a:lstStyle/>
                    <a:p>
                      <a:pPr algn="ctr"/>
                      <a:r>
                        <a:rPr sz="1100">
                          <a:solidFill>
                            <a:srgbClr val="2C2C2C"/>
                          </a:solidFill>
                          <a:latin typeface="Calibri"/>
                        </a:rPr>
                        <a:t>9.2</a:t>
                      </a:r>
                    </a:p>
                  </a:txBody>
                  <a:tcPr>
                    <a:solidFill>
                      <a:srgbClr val="FFFFFF"/>
                    </a:solidFill>
                  </a:tcPr>
                </a:tc>
                <a:tc>
                  <a:txBody>
                    <a:bodyPr wrap="square"/>
                    <a:lstStyle/>
                    <a:p>
                      <a:pPr algn="ctr"/>
                      <a:r>
                        <a:rPr sz="1100">
                          <a:solidFill>
                            <a:srgbClr val="2C2C2C"/>
                          </a:solidFill>
                          <a:latin typeface="Calibri"/>
                        </a:rPr>
                        <a:t>−45% incidence</a:t>
                      </a:r>
                    </a:p>
                  </a:txBody>
                  <a:tcPr>
                    <a:solidFill>
                      <a:srgbClr val="FFFFFF"/>
                    </a:solidFill>
                  </a:tcPr>
                </a:tc>
              </a:tr>
            </a:tbl>
          </a:graphicData>
        </a:graphic>
      </p:graphicFrame>
      <p:sp>
        <p:nvSpPr>
          <p:cNvPr id="6" name="Rectangle 5"/>
          <p:cNvSpPr/>
          <p:nvPr/>
        </p:nvSpPr>
        <p:spPr>
          <a:xfrm>
            <a:off x="320040" y="3291840"/>
            <a:ext cx="8503920" cy="1572768"/>
          </a:xfrm>
          <a:prstGeom prst="rect">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3291840"/>
            <a:ext cx="73152" cy="1572768"/>
          </a:xfrm>
          <a:prstGeom prst="rect">
            <a:avLst/>
          </a:prstGeom>
          <a:solidFill>
            <a:srgbClr val="9B8F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3364992"/>
            <a:ext cx="8138160" cy="347472"/>
          </a:xfrm>
          <a:prstGeom prst="rect">
            <a:avLst/>
          </a:prstGeom>
          <a:noFill/>
        </p:spPr>
        <p:txBody>
          <a:bodyPr wrap="square">
            <a:spAutoFit/>
          </a:bodyPr>
          <a:lstStyle/>
          <a:p>
            <a:pPr algn="l"/>
            <a:r>
              <a:rPr sz="1300" b="0" i="0">
                <a:solidFill>
                  <a:srgbClr val="F7F5F2"/>
                </a:solidFill>
                <a:latin typeface="Georgia"/>
              </a:rPr>
              <a:t>Projection Finding (New Chart)</a:t>
            </a:r>
          </a:p>
        </p:txBody>
      </p:sp>
      <p:sp>
        <p:nvSpPr>
          <p:cNvPr id="9" name="TextBox 8"/>
          <p:cNvSpPr txBox="1"/>
          <p:nvPr/>
        </p:nvSpPr>
        <p:spPr>
          <a:xfrm>
            <a:off x="502920" y="3767328"/>
            <a:ext cx="8138160" cy="1024128"/>
          </a:xfrm>
          <a:prstGeom prst="rect">
            <a:avLst/>
          </a:prstGeom>
          <a:noFill/>
        </p:spPr>
        <p:txBody>
          <a:bodyPr wrap="square">
            <a:spAutoFit/>
          </a:bodyPr>
          <a:lstStyle/>
          <a:p>
            <a:pPr algn="l"/>
            <a:r>
              <a:rPr sz="1100" b="0" i="0">
                <a:solidFill>
                  <a:srgbClr val="ABA59F"/>
                </a:solidFill>
                <a:latin typeface="Calibri"/>
              </a:rPr>
              <a:t>Using OLS regression on 2014–2022 race-specific data, projections to 2030 show Non-Hispanic Black men remaining on a trajectory of approximately 185–195/100K — nearly 75% higher than the projected rate for White men (~115/100K). The racial gap does not narrow on the current trend. This is the central policy conclusion of this analysis.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Rectangle 1"/>
          <p:cNvSpPr/>
          <p:nvPr/>
        </p:nvSpPr>
        <p:spPr>
          <a:xfrm>
            <a:off x="0" y="0"/>
            <a:ext cx="128016" cy="5143500"/>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56032"/>
            <a:ext cx="8412480" cy="566928"/>
          </a:xfrm>
          <a:prstGeom prst="rect">
            <a:avLst/>
          </a:prstGeom>
          <a:noFill/>
        </p:spPr>
        <p:txBody>
          <a:bodyPr wrap="square">
            <a:spAutoFit/>
          </a:bodyPr>
          <a:lstStyle/>
          <a:p>
            <a:pPr algn="l"/>
            <a:r>
              <a:rPr sz="3000" b="0" i="0">
                <a:solidFill>
                  <a:srgbClr val="2C2C2C"/>
                </a:solidFill>
                <a:latin typeface="Georgia"/>
              </a:rPr>
              <a:t>Finding 3: Stage at Diagnosis Is Decisive</a:t>
            </a:r>
          </a:p>
        </p:txBody>
      </p:sp>
      <p:sp>
        <p:nvSpPr>
          <p:cNvPr id="4" name="Rectangle 3"/>
          <p:cNvSpPr/>
          <p:nvPr/>
        </p:nvSpPr>
        <p:spPr>
          <a:xfrm>
            <a:off x="365760" y="896112"/>
            <a:ext cx="8412480" cy="27432"/>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1051560"/>
            <a:ext cx="2761488" cy="1920240"/>
          </a:xfrm>
          <a:prstGeom prst="rect">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51560"/>
            <a:ext cx="2761488" cy="73152"/>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170432"/>
            <a:ext cx="2761488" cy="713232"/>
          </a:xfrm>
          <a:prstGeom prst="rect">
            <a:avLst/>
          </a:prstGeom>
          <a:noFill/>
        </p:spPr>
        <p:txBody>
          <a:bodyPr wrap="square">
            <a:spAutoFit/>
          </a:bodyPr>
          <a:lstStyle/>
          <a:p>
            <a:pPr algn="ctr"/>
            <a:r>
              <a:rPr sz="3600" b="0" i="0">
                <a:solidFill>
                  <a:srgbClr val="8A9A8B"/>
                </a:solidFill>
                <a:latin typeface="Georgia"/>
              </a:rPr>
              <a:t>~100%</a:t>
            </a:r>
          </a:p>
        </p:txBody>
      </p:sp>
      <p:sp>
        <p:nvSpPr>
          <p:cNvPr id="8" name="TextBox 7"/>
          <p:cNvSpPr txBox="1"/>
          <p:nvPr/>
        </p:nvSpPr>
        <p:spPr>
          <a:xfrm>
            <a:off x="320040" y="1920240"/>
            <a:ext cx="2761488" cy="502920"/>
          </a:xfrm>
          <a:prstGeom prst="rect">
            <a:avLst/>
          </a:prstGeom>
          <a:noFill/>
        </p:spPr>
        <p:txBody>
          <a:bodyPr wrap="square">
            <a:spAutoFit/>
          </a:bodyPr>
          <a:lstStyle/>
          <a:p>
            <a:pPr algn="ctr"/>
            <a:r>
              <a:rPr sz="1150" b="0" i="0">
                <a:solidFill>
                  <a:srgbClr val="F7F5F2"/>
                </a:solidFill>
                <a:latin typeface="Georgia"/>
              </a:rPr>
              <a:t>5-Year Survival
Localized Stage</a:t>
            </a:r>
          </a:p>
        </p:txBody>
      </p:sp>
      <p:sp>
        <p:nvSpPr>
          <p:cNvPr id="9" name="TextBox 8"/>
          <p:cNvSpPr txBox="1"/>
          <p:nvPr/>
        </p:nvSpPr>
        <p:spPr>
          <a:xfrm>
            <a:off x="320040" y="2450592"/>
            <a:ext cx="2761488" cy="438912"/>
          </a:xfrm>
          <a:prstGeom prst="rect">
            <a:avLst/>
          </a:prstGeom>
          <a:noFill/>
        </p:spPr>
        <p:txBody>
          <a:bodyPr wrap="square">
            <a:spAutoFit/>
          </a:bodyPr>
          <a:lstStyle/>
          <a:p>
            <a:pPr algn="ctr"/>
            <a:r>
              <a:rPr sz="1000" b="0" i="0">
                <a:solidFill>
                  <a:srgbClr val="ABA59F"/>
                </a:solidFill>
                <a:latin typeface="Calibri"/>
              </a:rPr>
              <a:t>76% of all cases
caught early</a:t>
            </a:r>
          </a:p>
        </p:txBody>
      </p:sp>
      <p:sp>
        <p:nvSpPr>
          <p:cNvPr id="10" name="Rectangle 9"/>
          <p:cNvSpPr/>
          <p:nvPr/>
        </p:nvSpPr>
        <p:spPr>
          <a:xfrm>
            <a:off x="3264408" y="1051560"/>
            <a:ext cx="2761488" cy="1920240"/>
          </a:xfrm>
          <a:prstGeom prst="rect">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64408" y="1051560"/>
            <a:ext cx="2761488" cy="73152"/>
          </a:xfrm>
          <a:prstGeom prst="rect">
            <a:avLst/>
          </a:prstGeom>
          <a:solidFill>
            <a:srgbClr val="C4A8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64408" y="1170432"/>
            <a:ext cx="2761488" cy="713232"/>
          </a:xfrm>
          <a:prstGeom prst="rect">
            <a:avLst/>
          </a:prstGeom>
          <a:noFill/>
        </p:spPr>
        <p:txBody>
          <a:bodyPr wrap="square">
            <a:spAutoFit/>
          </a:bodyPr>
          <a:lstStyle/>
          <a:p>
            <a:pPr algn="ctr"/>
            <a:r>
              <a:rPr sz="3600" b="0" i="0">
                <a:solidFill>
                  <a:srgbClr val="C4A882"/>
                </a:solidFill>
                <a:latin typeface="Georgia"/>
              </a:rPr>
              <a:t>99.9%</a:t>
            </a:r>
          </a:p>
        </p:txBody>
      </p:sp>
      <p:sp>
        <p:nvSpPr>
          <p:cNvPr id="13" name="TextBox 12"/>
          <p:cNvSpPr txBox="1"/>
          <p:nvPr/>
        </p:nvSpPr>
        <p:spPr>
          <a:xfrm>
            <a:off x="3264408" y="1920240"/>
            <a:ext cx="2761488" cy="502920"/>
          </a:xfrm>
          <a:prstGeom prst="rect">
            <a:avLst/>
          </a:prstGeom>
          <a:noFill/>
        </p:spPr>
        <p:txBody>
          <a:bodyPr wrap="square">
            <a:spAutoFit/>
          </a:bodyPr>
          <a:lstStyle/>
          <a:p>
            <a:pPr algn="ctr"/>
            <a:r>
              <a:rPr sz="1150" b="0" i="0">
                <a:solidFill>
                  <a:srgbClr val="F7F5F2"/>
                </a:solidFill>
                <a:latin typeface="Georgia"/>
              </a:rPr>
              <a:t>5-Year Survival
Regional Stage</a:t>
            </a:r>
          </a:p>
        </p:txBody>
      </p:sp>
      <p:sp>
        <p:nvSpPr>
          <p:cNvPr id="14" name="TextBox 13"/>
          <p:cNvSpPr txBox="1"/>
          <p:nvPr/>
        </p:nvSpPr>
        <p:spPr>
          <a:xfrm>
            <a:off x="3264408" y="2450592"/>
            <a:ext cx="2761488" cy="438912"/>
          </a:xfrm>
          <a:prstGeom prst="rect">
            <a:avLst/>
          </a:prstGeom>
          <a:noFill/>
        </p:spPr>
        <p:txBody>
          <a:bodyPr wrap="square">
            <a:spAutoFit/>
          </a:bodyPr>
          <a:lstStyle/>
          <a:p>
            <a:pPr algn="ctr"/>
            <a:r>
              <a:rPr sz="1000" b="0" i="0">
                <a:solidFill>
                  <a:srgbClr val="ABA59F"/>
                </a:solidFill>
                <a:latin typeface="Calibri"/>
              </a:rPr>
              <a:t>13% of all cases</a:t>
            </a:r>
          </a:p>
        </p:txBody>
      </p:sp>
      <p:sp>
        <p:nvSpPr>
          <p:cNvPr id="15" name="Rectangle 14"/>
          <p:cNvSpPr/>
          <p:nvPr/>
        </p:nvSpPr>
        <p:spPr>
          <a:xfrm>
            <a:off x="6208776" y="1051560"/>
            <a:ext cx="2761488" cy="1920240"/>
          </a:xfrm>
          <a:prstGeom prst="rect">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08776" y="1051560"/>
            <a:ext cx="2761488" cy="73152"/>
          </a:xfrm>
          <a:prstGeom prst="rect">
            <a:avLst/>
          </a:prstGeom>
          <a:solidFill>
            <a:srgbClr val="C17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08776" y="1170432"/>
            <a:ext cx="2761488" cy="713232"/>
          </a:xfrm>
          <a:prstGeom prst="rect">
            <a:avLst/>
          </a:prstGeom>
          <a:noFill/>
        </p:spPr>
        <p:txBody>
          <a:bodyPr wrap="square">
            <a:spAutoFit/>
          </a:bodyPr>
          <a:lstStyle/>
          <a:p>
            <a:pPr algn="ctr"/>
            <a:r>
              <a:rPr sz="3600" b="0" i="0">
                <a:solidFill>
                  <a:srgbClr val="C17F5C"/>
                </a:solidFill>
                <a:latin typeface="Georgia"/>
              </a:rPr>
              <a:t>38%</a:t>
            </a:r>
          </a:p>
        </p:txBody>
      </p:sp>
      <p:sp>
        <p:nvSpPr>
          <p:cNvPr id="18" name="TextBox 17"/>
          <p:cNvSpPr txBox="1"/>
          <p:nvPr/>
        </p:nvSpPr>
        <p:spPr>
          <a:xfrm>
            <a:off x="6208776" y="1920240"/>
            <a:ext cx="2761488" cy="502920"/>
          </a:xfrm>
          <a:prstGeom prst="rect">
            <a:avLst/>
          </a:prstGeom>
          <a:noFill/>
        </p:spPr>
        <p:txBody>
          <a:bodyPr wrap="square">
            <a:spAutoFit/>
          </a:bodyPr>
          <a:lstStyle/>
          <a:p>
            <a:pPr algn="ctr"/>
            <a:r>
              <a:rPr sz="1150" b="0" i="0">
                <a:solidFill>
                  <a:srgbClr val="F7F5F2"/>
                </a:solidFill>
                <a:latin typeface="Georgia"/>
              </a:rPr>
              <a:t>5-Year Survival
Distant / Metastatic</a:t>
            </a:r>
          </a:p>
        </p:txBody>
      </p:sp>
      <p:sp>
        <p:nvSpPr>
          <p:cNvPr id="19" name="TextBox 18"/>
          <p:cNvSpPr txBox="1"/>
          <p:nvPr/>
        </p:nvSpPr>
        <p:spPr>
          <a:xfrm>
            <a:off x="6208776" y="2450592"/>
            <a:ext cx="2761488" cy="438912"/>
          </a:xfrm>
          <a:prstGeom prst="rect">
            <a:avLst/>
          </a:prstGeom>
          <a:noFill/>
        </p:spPr>
        <p:txBody>
          <a:bodyPr wrap="square">
            <a:spAutoFit/>
          </a:bodyPr>
          <a:lstStyle/>
          <a:p>
            <a:pPr algn="ctr"/>
            <a:r>
              <a:rPr sz="1000" b="0" i="0">
                <a:solidFill>
                  <a:srgbClr val="ABA59F"/>
                </a:solidFill>
                <a:latin typeface="Calibri"/>
              </a:rPr>
              <a:t>↑ 8.4 → 12.6 /100K
since 2008</a:t>
            </a:r>
          </a:p>
        </p:txBody>
      </p:sp>
      <p:sp>
        <p:nvSpPr>
          <p:cNvPr id="20" name="Rectangle 19"/>
          <p:cNvSpPr/>
          <p:nvPr/>
        </p:nvSpPr>
        <p:spPr>
          <a:xfrm>
            <a:off x="320040" y="3127248"/>
            <a:ext cx="8503920" cy="868680"/>
          </a:xfrm>
          <a:prstGeom prst="rect">
            <a:avLst/>
          </a:prstGeom>
          <a:solidFill>
            <a:srgbClr val="E8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20040" y="3127248"/>
            <a:ext cx="64008" cy="868680"/>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5488" y="3200400"/>
            <a:ext cx="8275320" cy="731520"/>
          </a:xfrm>
          <a:prstGeom prst="rect">
            <a:avLst/>
          </a:prstGeom>
          <a:noFill/>
        </p:spPr>
        <p:txBody>
          <a:bodyPr wrap="square">
            <a:spAutoFit/>
          </a:bodyPr>
          <a:lstStyle/>
          <a:p>
            <a:pPr algn="l"/>
            <a:r>
              <a:rPr sz="1150" b="0" i="0">
                <a:solidFill>
                  <a:srgbClr val="2C2C2C"/>
                </a:solidFill>
                <a:latin typeface="Calibri"/>
              </a:rPr>
              <a:t>The 62-point survival gap between localized and metastatic diagnosis is the single strongest argument for early screening. The Sankey diagram in the dashboard makes this concrete: out of 1,000 diagnosed men, 942 survive 5 years — but only because 76% are caught at the localized stage. If the distant-stage trend continues rising, this survival advantage will erode.</a:t>
            </a:r>
          </a:p>
        </p:txBody>
      </p:sp>
      <p:sp>
        <p:nvSpPr>
          <p:cNvPr id="23" name="TextBox 22"/>
          <p:cNvSpPr txBox="1"/>
          <p:nvPr/>
        </p:nvSpPr>
        <p:spPr>
          <a:xfrm>
            <a:off x="320040" y="4096512"/>
            <a:ext cx="8503920" cy="411480"/>
          </a:xfrm>
          <a:prstGeom prst="rect">
            <a:avLst/>
          </a:prstGeom>
          <a:noFill/>
        </p:spPr>
        <p:txBody>
          <a:bodyPr wrap="square">
            <a:spAutoFit/>
          </a:bodyPr>
          <a:lstStyle/>
          <a:p>
            <a:pPr algn="l"/>
            <a:r>
              <a:rPr sz="1250" b="0" i="1">
                <a:solidFill>
                  <a:srgbClr val="C17F5C"/>
                </a:solidFill>
                <a:latin typeface="Calibri"/>
              </a:rPr>
              <a:t>The rise in distant-stage cases (+50% since 2008) is the most urgent finding in this dataset.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A2A28"/>
        </a:solidFill>
        <a:effectLst/>
      </p:bgPr>
    </p:bg>
    <p:spTree>
      <p:nvGrpSpPr>
        <p:cNvPr id="1" name=""/>
        <p:cNvGrpSpPr/>
        <p:nvPr/>
      </p:nvGrpSpPr>
      <p:grpSpPr/>
      <p:sp>
        <p:nvSpPr>
          <p:cNvPr id="2" name="Rectangle 1"/>
          <p:cNvSpPr/>
          <p:nvPr/>
        </p:nvSpPr>
        <p:spPr>
          <a:xfrm>
            <a:off x="0" y="0"/>
            <a:ext cx="128016" cy="5143500"/>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56032"/>
            <a:ext cx="8229600" cy="566928"/>
          </a:xfrm>
          <a:prstGeom prst="rect">
            <a:avLst/>
          </a:prstGeom>
          <a:noFill/>
        </p:spPr>
        <p:txBody>
          <a:bodyPr wrap="square">
            <a:spAutoFit/>
          </a:bodyPr>
          <a:lstStyle/>
          <a:p>
            <a:pPr algn="l"/>
            <a:r>
              <a:rPr sz="3200" b="0" i="0">
                <a:solidFill>
                  <a:srgbClr val="F7F5F2"/>
                </a:solidFill>
                <a:latin typeface="Georgia"/>
              </a:rPr>
              <a:t>Conclusion</a:t>
            </a:r>
          </a:p>
        </p:txBody>
      </p:sp>
      <p:sp>
        <p:nvSpPr>
          <p:cNvPr id="4" name="Rectangle 3"/>
          <p:cNvSpPr/>
          <p:nvPr/>
        </p:nvSpPr>
        <p:spPr>
          <a:xfrm>
            <a:off x="365760" y="868680"/>
            <a:ext cx="8229600" cy="27432"/>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05840"/>
            <a:ext cx="3931920" cy="320040"/>
          </a:xfrm>
          <a:prstGeom prst="rect">
            <a:avLst/>
          </a:prstGeom>
          <a:noFill/>
        </p:spPr>
        <p:txBody>
          <a:bodyPr wrap="square">
            <a:spAutoFit/>
          </a:bodyPr>
          <a:lstStyle/>
          <a:p>
            <a:pPr algn="l"/>
            <a:r>
              <a:rPr sz="1300" b="0" i="0">
                <a:solidFill>
                  <a:srgbClr val="8A9A8B"/>
                </a:solidFill>
                <a:latin typeface="Georgia"/>
              </a:rPr>
              <a:t>What Was Built</a:t>
            </a:r>
          </a:p>
        </p:txBody>
      </p:sp>
      <p:sp>
        <p:nvSpPr>
          <p:cNvPr id="6" name="Rectangle 5"/>
          <p:cNvSpPr/>
          <p:nvPr/>
        </p:nvSpPr>
        <p:spPr>
          <a:xfrm>
            <a:off x="365760" y="1389888"/>
            <a:ext cx="54864" cy="292608"/>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89888"/>
            <a:ext cx="3749039" cy="384048"/>
          </a:xfrm>
          <a:prstGeom prst="rect">
            <a:avLst/>
          </a:prstGeom>
          <a:noFill/>
        </p:spPr>
        <p:txBody>
          <a:bodyPr wrap="square">
            <a:spAutoFit/>
          </a:bodyPr>
          <a:lstStyle/>
          <a:p>
            <a:pPr algn="l"/>
            <a:r>
              <a:rPr sz="1050" b="0" i="0">
                <a:solidFill>
                  <a:srgbClr val="ABA59F"/>
                </a:solidFill>
                <a:latin typeface="Calibri"/>
              </a:rPr>
              <a:t>Self-contained HTML dashboard (1,800+ lines)</a:t>
            </a:r>
          </a:p>
        </p:txBody>
      </p:sp>
      <p:sp>
        <p:nvSpPr>
          <p:cNvPr id="8" name="Rectangle 7"/>
          <p:cNvSpPr/>
          <p:nvPr/>
        </p:nvSpPr>
        <p:spPr>
          <a:xfrm>
            <a:off x="365760" y="1837943"/>
            <a:ext cx="54864" cy="292608"/>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837943"/>
            <a:ext cx="3749039" cy="384048"/>
          </a:xfrm>
          <a:prstGeom prst="rect">
            <a:avLst/>
          </a:prstGeom>
          <a:noFill/>
        </p:spPr>
        <p:txBody>
          <a:bodyPr wrap="square">
            <a:spAutoFit/>
          </a:bodyPr>
          <a:lstStyle/>
          <a:p>
            <a:pPr algn="l"/>
            <a:r>
              <a:rPr sz="1050" b="0" i="0">
                <a:solidFill>
                  <a:srgbClr val="ABA59F"/>
                </a:solidFill>
                <a:latin typeface="Calibri"/>
              </a:rPr>
              <a:t>12 interactive Plotly.js visualizations</a:t>
            </a:r>
          </a:p>
        </p:txBody>
      </p:sp>
      <p:sp>
        <p:nvSpPr>
          <p:cNvPr id="10" name="Rectangle 9"/>
          <p:cNvSpPr/>
          <p:nvPr/>
        </p:nvSpPr>
        <p:spPr>
          <a:xfrm>
            <a:off x="365760" y="2286000"/>
            <a:ext cx="54864" cy="292608"/>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286000"/>
            <a:ext cx="3749039" cy="384048"/>
          </a:xfrm>
          <a:prstGeom prst="rect">
            <a:avLst/>
          </a:prstGeom>
          <a:noFill/>
        </p:spPr>
        <p:txBody>
          <a:bodyPr wrap="square">
            <a:spAutoFit/>
          </a:bodyPr>
          <a:lstStyle/>
          <a:p>
            <a:pPr algn="l"/>
            <a:r>
              <a:rPr sz="1050" b="0" i="0">
                <a:solidFill>
                  <a:srgbClr val="ABA59F"/>
                </a:solidFill>
                <a:latin typeface="Calibri"/>
              </a:rPr>
              <a:t>6 thematic tabs with full interactivity</a:t>
            </a:r>
          </a:p>
        </p:txBody>
      </p:sp>
      <p:sp>
        <p:nvSpPr>
          <p:cNvPr id="12" name="Rectangle 11"/>
          <p:cNvSpPr/>
          <p:nvPr/>
        </p:nvSpPr>
        <p:spPr>
          <a:xfrm>
            <a:off x="365760" y="2734056"/>
            <a:ext cx="54864" cy="292608"/>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734056"/>
            <a:ext cx="3749039" cy="384048"/>
          </a:xfrm>
          <a:prstGeom prst="rect">
            <a:avLst/>
          </a:prstGeom>
          <a:noFill/>
        </p:spPr>
        <p:txBody>
          <a:bodyPr wrap="square">
            <a:spAutoFit/>
          </a:bodyPr>
          <a:lstStyle/>
          <a:p>
            <a:pPr algn="l"/>
            <a:r>
              <a:rPr sz="1050" b="0" i="0">
                <a:solidFill>
                  <a:srgbClr val="ABA59F"/>
                </a:solidFill>
                <a:latin typeface="Calibri"/>
              </a:rPr>
              <a:t>Fault-tolerant 3-CDN async Plotly loader</a:t>
            </a:r>
          </a:p>
        </p:txBody>
      </p:sp>
      <p:sp>
        <p:nvSpPr>
          <p:cNvPr id="14" name="Rectangle 13"/>
          <p:cNvSpPr/>
          <p:nvPr/>
        </p:nvSpPr>
        <p:spPr>
          <a:xfrm>
            <a:off x="365760" y="3182112"/>
            <a:ext cx="54864" cy="292608"/>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3182112"/>
            <a:ext cx="3749039" cy="384048"/>
          </a:xfrm>
          <a:prstGeom prst="rect">
            <a:avLst/>
          </a:prstGeom>
          <a:noFill/>
        </p:spPr>
        <p:txBody>
          <a:bodyPr wrap="square">
            <a:spAutoFit/>
          </a:bodyPr>
          <a:lstStyle/>
          <a:p>
            <a:pPr algn="l"/>
            <a:r>
              <a:rPr sz="1050" b="0" i="0">
                <a:solidFill>
                  <a:srgbClr val="ABA59F"/>
                </a:solidFill>
                <a:latin typeface="Calibri"/>
              </a:rPr>
              <a:t>OLS projection engine with 95% CI bands</a:t>
            </a:r>
          </a:p>
        </p:txBody>
      </p:sp>
      <p:sp>
        <p:nvSpPr>
          <p:cNvPr id="16" name="Rectangle 15"/>
          <p:cNvSpPr/>
          <p:nvPr/>
        </p:nvSpPr>
        <p:spPr>
          <a:xfrm>
            <a:off x="365760" y="3630168"/>
            <a:ext cx="54864" cy="292608"/>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3630168"/>
            <a:ext cx="3749039" cy="384048"/>
          </a:xfrm>
          <a:prstGeom prst="rect">
            <a:avLst/>
          </a:prstGeom>
          <a:noFill/>
        </p:spPr>
        <p:txBody>
          <a:bodyPr wrap="square">
            <a:spAutoFit/>
          </a:bodyPr>
          <a:lstStyle/>
          <a:p>
            <a:pPr algn="l"/>
            <a:r>
              <a:rPr sz="1050" b="0" i="0">
                <a:solidFill>
                  <a:srgbClr val="ABA59F"/>
                </a:solidFill>
                <a:latin typeface="Calibri"/>
              </a:rPr>
              <a:t>Race-specific incidence projections to 2030</a:t>
            </a:r>
          </a:p>
        </p:txBody>
      </p:sp>
      <p:sp>
        <p:nvSpPr>
          <p:cNvPr id="18" name="Rectangle 17"/>
          <p:cNvSpPr/>
          <p:nvPr/>
        </p:nvSpPr>
        <p:spPr>
          <a:xfrm>
            <a:off x="365760" y="4078224"/>
            <a:ext cx="54864" cy="292608"/>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078224"/>
            <a:ext cx="3749039" cy="384048"/>
          </a:xfrm>
          <a:prstGeom prst="rect">
            <a:avLst/>
          </a:prstGeom>
          <a:noFill/>
        </p:spPr>
        <p:txBody>
          <a:bodyPr wrap="square">
            <a:spAutoFit/>
          </a:bodyPr>
          <a:lstStyle/>
          <a:p>
            <a:pPr algn="l"/>
            <a:r>
              <a:rPr sz="1050" b="0" i="0">
                <a:solidFill>
                  <a:srgbClr val="ABA59F"/>
                </a:solidFill>
                <a:latin typeface="Calibri"/>
              </a:rPr>
              <a:t>50-state choropleth + state comparison tool</a:t>
            </a:r>
          </a:p>
        </p:txBody>
      </p:sp>
      <p:sp>
        <p:nvSpPr>
          <p:cNvPr id="20" name="Rectangle 19"/>
          <p:cNvSpPr/>
          <p:nvPr/>
        </p:nvSpPr>
        <p:spPr>
          <a:xfrm>
            <a:off x="365760" y="4526279"/>
            <a:ext cx="54864" cy="292608"/>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4526279"/>
            <a:ext cx="3749039" cy="384048"/>
          </a:xfrm>
          <a:prstGeom prst="rect">
            <a:avLst/>
          </a:prstGeom>
          <a:noFill/>
        </p:spPr>
        <p:txBody>
          <a:bodyPr wrap="square">
            <a:spAutoFit/>
          </a:bodyPr>
          <a:lstStyle/>
          <a:p>
            <a:pPr algn="l"/>
            <a:r>
              <a:rPr sz="1050" b="0" i="0">
                <a:solidFill>
                  <a:srgbClr val="ABA59F"/>
                </a:solidFill>
                <a:latin typeface="Calibri"/>
              </a:rPr>
              <a:t>Personalized risk calculator (age × race)</a:t>
            </a:r>
          </a:p>
        </p:txBody>
      </p:sp>
      <p:sp>
        <p:nvSpPr>
          <p:cNvPr id="22" name="TextBox 21"/>
          <p:cNvSpPr txBox="1"/>
          <p:nvPr/>
        </p:nvSpPr>
        <p:spPr>
          <a:xfrm>
            <a:off x="4572000" y="1005840"/>
            <a:ext cx="4251960" cy="320040"/>
          </a:xfrm>
          <a:prstGeom prst="rect">
            <a:avLst/>
          </a:prstGeom>
          <a:noFill/>
        </p:spPr>
        <p:txBody>
          <a:bodyPr wrap="square">
            <a:spAutoFit/>
          </a:bodyPr>
          <a:lstStyle/>
          <a:p>
            <a:pPr algn="l"/>
            <a:r>
              <a:rPr sz="1300" b="0" i="0">
                <a:solidFill>
                  <a:srgbClr val="C17F5C"/>
                </a:solidFill>
                <a:latin typeface="Georgia"/>
              </a:rPr>
              <a:t>Key Takeaways</a:t>
            </a:r>
          </a:p>
        </p:txBody>
      </p:sp>
      <p:sp>
        <p:nvSpPr>
          <p:cNvPr id="23" name="Rectangle 22"/>
          <p:cNvSpPr/>
          <p:nvPr/>
        </p:nvSpPr>
        <p:spPr>
          <a:xfrm>
            <a:off x="4572000" y="1389888"/>
            <a:ext cx="54864" cy="1078992"/>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36592" y="1435608"/>
            <a:ext cx="4069080" cy="347472"/>
          </a:xfrm>
          <a:prstGeom prst="rect">
            <a:avLst/>
          </a:prstGeom>
          <a:noFill/>
        </p:spPr>
        <p:txBody>
          <a:bodyPr wrap="square">
            <a:spAutoFit/>
          </a:bodyPr>
          <a:lstStyle/>
          <a:p>
            <a:pPr algn="l"/>
            <a:r>
              <a:rPr sz="1200" b="0" i="0">
                <a:solidFill>
                  <a:srgbClr val="F7F5F2"/>
                </a:solidFill>
                <a:latin typeface="Georgia"/>
              </a:rPr>
              <a:t>Screening policy is the dominant driver</a:t>
            </a:r>
          </a:p>
        </p:txBody>
      </p:sp>
      <p:sp>
        <p:nvSpPr>
          <p:cNvPr id="25" name="TextBox 24"/>
          <p:cNvSpPr txBox="1"/>
          <p:nvPr/>
        </p:nvSpPr>
        <p:spPr>
          <a:xfrm>
            <a:off x="4736592" y="1819656"/>
            <a:ext cx="4069080" cy="594360"/>
          </a:xfrm>
          <a:prstGeom prst="rect">
            <a:avLst/>
          </a:prstGeom>
          <a:noFill/>
        </p:spPr>
        <p:txBody>
          <a:bodyPr wrap="square">
            <a:spAutoFit/>
          </a:bodyPr>
          <a:lstStyle/>
          <a:p>
            <a:pPr algn="l"/>
            <a:r>
              <a:rPr sz="1050" b="0" i="0">
                <a:solidFill>
                  <a:srgbClr val="ABA59F"/>
                </a:solidFill>
                <a:latin typeface="Calibri"/>
              </a:rPr>
              <a:t>The 2012 USPSTF change caused a 48% incidence drop; the 2018 reversal is clearly visible in the trend data.</a:t>
            </a:r>
          </a:p>
        </p:txBody>
      </p:sp>
      <p:sp>
        <p:nvSpPr>
          <p:cNvPr id="26" name="Rectangle 25"/>
          <p:cNvSpPr/>
          <p:nvPr/>
        </p:nvSpPr>
        <p:spPr>
          <a:xfrm>
            <a:off x="4572000" y="2578608"/>
            <a:ext cx="54864" cy="1078992"/>
          </a:xfrm>
          <a:prstGeom prst="rect">
            <a:avLst/>
          </a:prstGeom>
          <a:solidFill>
            <a:srgbClr val="9B8F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36592" y="2624328"/>
            <a:ext cx="4069080" cy="347472"/>
          </a:xfrm>
          <a:prstGeom prst="rect">
            <a:avLst/>
          </a:prstGeom>
          <a:noFill/>
        </p:spPr>
        <p:txBody>
          <a:bodyPr wrap="square">
            <a:spAutoFit/>
          </a:bodyPr>
          <a:lstStyle/>
          <a:p>
            <a:pPr algn="l"/>
            <a:r>
              <a:rPr sz="1200" b="0" i="0">
                <a:solidFill>
                  <a:srgbClr val="F7F5F2"/>
                </a:solidFill>
                <a:latin typeface="Georgia"/>
              </a:rPr>
              <a:t>Racial disparities persist through 2030</a:t>
            </a:r>
          </a:p>
        </p:txBody>
      </p:sp>
      <p:sp>
        <p:nvSpPr>
          <p:cNvPr id="28" name="TextBox 27"/>
          <p:cNvSpPr txBox="1"/>
          <p:nvPr/>
        </p:nvSpPr>
        <p:spPr>
          <a:xfrm>
            <a:off x="4736592" y="3008376"/>
            <a:ext cx="4069080" cy="594360"/>
          </a:xfrm>
          <a:prstGeom prst="rect">
            <a:avLst/>
          </a:prstGeom>
          <a:noFill/>
        </p:spPr>
        <p:txBody>
          <a:bodyPr wrap="square">
            <a:spAutoFit/>
          </a:bodyPr>
          <a:lstStyle/>
          <a:p>
            <a:pPr algn="l"/>
            <a:r>
              <a:rPr sz="1050" b="0" i="0">
                <a:solidFill>
                  <a:srgbClr val="ABA59F"/>
                </a:solidFill>
                <a:latin typeface="Calibri"/>
              </a:rPr>
              <a:t>Black men face 60% higher incidence and 109% higher mortality. Projections show the gap does not narrow.</a:t>
            </a:r>
          </a:p>
        </p:txBody>
      </p:sp>
      <p:sp>
        <p:nvSpPr>
          <p:cNvPr id="29" name="Rectangle 28"/>
          <p:cNvSpPr/>
          <p:nvPr/>
        </p:nvSpPr>
        <p:spPr>
          <a:xfrm>
            <a:off x="4572000" y="3767328"/>
            <a:ext cx="54864" cy="1078992"/>
          </a:xfrm>
          <a:prstGeom prst="rect">
            <a:avLst/>
          </a:prstGeom>
          <a:solidFill>
            <a:srgbClr val="C17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36592" y="3813048"/>
            <a:ext cx="4069080" cy="347472"/>
          </a:xfrm>
          <a:prstGeom prst="rect">
            <a:avLst/>
          </a:prstGeom>
          <a:noFill/>
        </p:spPr>
        <p:txBody>
          <a:bodyPr wrap="square">
            <a:spAutoFit/>
          </a:bodyPr>
          <a:lstStyle/>
          <a:p>
            <a:pPr algn="l"/>
            <a:r>
              <a:rPr sz="1200" b="0" i="0">
                <a:solidFill>
                  <a:srgbClr val="F7F5F2"/>
                </a:solidFill>
                <a:latin typeface="Georgia"/>
              </a:rPr>
              <a:t>Stage at diagnosis determines survival</a:t>
            </a:r>
          </a:p>
        </p:txBody>
      </p:sp>
      <p:sp>
        <p:nvSpPr>
          <p:cNvPr id="31" name="TextBox 30"/>
          <p:cNvSpPr txBox="1"/>
          <p:nvPr/>
        </p:nvSpPr>
        <p:spPr>
          <a:xfrm>
            <a:off x="4736592" y="4197096"/>
            <a:ext cx="4069080" cy="594360"/>
          </a:xfrm>
          <a:prstGeom prst="rect">
            <a:avLst/>
          </a:prstGeom>
          <a:noFill/>
        </p:spPr>
        <p:txBody>
          <a:bodyPr wrap="square">
            <a:spAutoFit/>
          </a:bodyPr>
          <a:lstStyle/>
          <a:p>
            <a:pPr algn="l"/>
            <a:r>
              <a:rPr sz="1050" b="0" i="0">
                <a:solidFill>
                  <a:srgbClr val="ABA59F"/>
                </a:solidFill>
                <a:latin typeface="Calibri"/>
              </a:rPr>
              <a:t>~100% vs. 38% five-year survival. Distant-stage cases have risen 50% since 2008. Early detection is the key intervention.</a:t>
            </a:r>
          </a:p>
        </p:txBody>
      </p:sp>
      <p:sp>
        <p:nvSpPr>
          <p:cNvPr id="32" name="Rectangle 31"/>
          <p:cNvSpPr/>
          <p:nvPr/>
        </p:nvSpPr>
        <p:spPr>
          <a:xfrm>
            <a:off x="0" y="4754880"/>
            <a:ext cx="9144000" cy="388620"/>
          </a:xfrm>
          <a:prstGeom prst="rect">
            <a:avLst/>
          </a:prstGeom>
          <a:solidFill>
            <a:srgbClr val="8A9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4320" y="4782312"/>
            <a:ext cx="8686800" cy="338328"/>
          </a:xfrm>
          <a:prstGeom prst="rect">
            <a:avLst/>
          </a:prstGeom>
          <a:noFill/>
        </p:spPr>
        <p:txBody>
          <a:bodyPr wrap="square">
            <a:spAutoFit/>
          </a:bodyPr>
          <a:lstStyle/>
          <a:p>
            <a:pPr algn="ctr"/>
            <a:r>
              <a:rPr sz="1150" b="1" i="0">
                <a:solidFill>
                  <a:srgbClr val="2A2A28"/>
                </a:solidFill>
                <a:latin typeface="Calibri"/>
              </a:rPr>
              <a:t>Questions?  ·  github.com/GW-datasci/26-spring-MCCLINTON-A  ·  avamcclinton@gmail.com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